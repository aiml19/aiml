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89" r:id="rId2"/>
    <p:sldId id="290" r:id="rId3"/>
    <p:sldId id="258" r:id="rId4"/>
    <p:sldId id="263" r:id="rId5"/>
    <p:sldId id="264" r:id="rId6"/>
    <p:sldId id="266" r:id="rId7"/>
    <p:sldId id="267" r:id="rId8"/>
    <p:sldId id="291" r:id="rId9"/>
    <p:sldId id="268" r:id="rId10"/>
    <p:sldId id="269" r:id="rId11"/>
    <p:sldId id="277" r:id="rId12"/>
    <p:sldId id="278" r:id="rId13"/>
    <p:sldId id="292" r:id="rId14"/>
    <p:sldId id="293" r:id="rId15"/>
    <p:sldId id="271" r:id="rId16"/>
    <p:sldId id="272" r:id="rId17"/>
    <p:sldId id="279" r:id="rId18"/>
    <p:sldId id="280" r:id="rId19"/>
    <p:sldId id="276" r:id="rId20"/>
    <p:sldId id="274" r:id="rId21"/>
    <p:sldId id="281" r:id="rId22"/>
    <p:sldId id="286" r:id="rId23"/>
    <p:sldId id="284" r:id="rId24"/>
    <p:sldId id="275" r:id="rId25"/>
    <p:sldId id="282" r:id="rId26"/>
    <p:sldId id="283" r:id="rId27"/>
    <p:sldId id="285" r:id="rId28"/>
    <p:sldId id="288" r:id="rId29"/>
    <p:sldId id="297" r:id="rId30"/>
    <p:sldId id="299" r:id="rId31"/>
    <p:sldId id="298" r:id="rId32"/>
    <p:sldId id="295" r:id="rId33"/>
    <p:sldId id="29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13" autoAdjust="0"/>
    <p:restoredTop sz="94660"/>
  </p:normalViewPr>
  <p:slideViewPr>
    <p:cSldViewPr snapToGrid="0">
      <p:cViewPr>
        <p:scale>
          <a:sx n="81" d="100"/>
          <a:sy n="81" d="100"/>
        </p:scale>
        <p:origin x="571" y="6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48E0BF6-0D4C-484A-992C-551FAF7406BF}" type="datetimeFigureOut">
              <a:rPr lang="en-IN" smtClean="0"/>
              <a:t>10-05-2020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E0F1BD-A1B6-41D7-9133-5FB6AC20376A}" type="slidenum">
              <a:rPr lang="en-IN" smtClean="0"/>
              <a:t>‹#›</a:t>
            </a:fld>
            <a:endParaRPr lang="en-IN"/>
          </a:p>
        </p:txBody>
      </p:sp>
    </p:spTree>
    <p:extLst>
      <p:ext uri="{BB962C8B-B14F-4D97-AF65-F5344CB8AC3E}">
        <p14:creationId xmlns:p14="http://schemas.microsoft.com/office/powerpoint/2010/main" val="3376692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48E0BF6-0D4C-484A-992C-551FAF7406BF}" type="datetimeFigureOut">
              <a:rPr lang="en-IN" smtClean="0"/>
              <a:t>10-05-2020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E0F1BD-A1B6-41D7-9133-5FB6AC20376A}" type="slidenum">
              <a:rPr lang="en-IN" smtClean="0"/>
              <a:t>‹#›</a:t>
            </a:fld>
            <a:endParaRPr lang="en-IN"/>
          </a:p>
        </p:txBody>
      </p:sp>
    </p:spTree>
    <p:extLst>
      <p:ext uri="{BB962C8B-B14F-4D97-AF65-F5344CB8AC3E}">
        <p14:creationId xmlns:p14="http://schemas.microsoft.com/office/powerpoint/2010/main" val="2737125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48E0BF6-0D4C-484A-992C-551FAF7406BF}" type="datetimeFigureOut">
              <a:rPr lang="en-IN" smtClean="0"/>
              <a:t>10-05-2020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E0F1BD-A1B6-41D7-9133-5FB6AC20376A}" type="slidenum">
              <a:rPr lang="en-IN" smtClean="0"/>
              <a:t>‹#›</a:t>
            </a:fld>
            <a:endParaRPr lang="en-IN"/>
          </a:p>
        </p:txBody>
      </p:sp>
    </p:spTree>
    <p:extLst>
      <p:ext uri="{BB962C8B-B14F-4D97-AF65-F5344CB8AC3E}">
        <p14:creationId xmlns:p14="http://schemas.microsoft.com/office/powerpoint/2010/main" val="23353919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48E0BF6-0D4C-484A-992C-551FAF7406BF}" type="datetimeFigureOut">
              <a:rPr lang="en-IN" smtClean="0"/>
              <a:t>10-05-2020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2E0F1BD-A1B6-41D7-9133-5FB6AC20376A}" type="slidenum">
              <a:rPr lang="en-IN" smtClean="0"/>
              <a:t>‹#›</a:t>
            </a:fld>
            <a:endParaRPr lang="en-IN"/>
          </a:p>
        </p:txBody>
      </p:sp>
    </p:spTree>
    <p:extLst>
      <p:ext uri="{BB962C8B-B14F-4D97-AF65-F5344CB8AC3E}">
        <p14:creationId xmlns:p14="http://schemas.microsoft.com/office/powerpoint/2010/main" val="2786480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48E0BF6-0D4C-484A-992C-551FAF7406BF}" type="datetimeFigureOut">
              <a:rPr lang="en-IN" smtClean="0"/>
              <a:t>10-05-2020</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2E0F1BD-A1B6-41D7-9133-5FB6AC20376A}" type="slidenum">
              <a:rPr lang="en-IN" smtClean="0"/>
              <a:t>‹#›</a:t>
            </a:fld>
            <a:endParaRPr lang="en-IN"/>
          </a:p>
        </p:txBody>
      </p:sp>
    </p:spTree>
    <p:extLst>
      <p:ext uri="{BB962C8B-B14F-4D97-AF65-F5344CB8AC3E}">
        <p14:creationId xmlns:p14="http://schemas.microsoft.com/office/powerpoint/2010/main" val="9981330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48E0BF6-0D4C-484A-992C-551FAF7406BF}" type="datetimeFigureOut">
              <a:rPr lang="en-IN" smtClean="0"/>
              <a:t>10-05-2020</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2E0F1BD-A1B6-41D7-9133-5FB6AC20376A}" type="slidenum">
              <a:rPr lang="en-IN" smtClean="0"/>
              <a:t>‹#›</a:t>
            </a:fld>
            <a:endParaRPr lang="en-IN"/>
          </a:p>
        </p:txBody>
      </p:sp>
    </p:spTree>
    <p:extLst>
      <p:ext uri="{BB962C8B-B14F-4D97-AF65-F5344CB8AC3E}">
        <p14:creationId xmlns:p14="http://schemas.microsoft.com/office/powerpoint/2010/main" val="12476358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8E0BF6-0D4C-484A-992C-551FAF7406BF}" type="datetimeFigureOut">
              <a:rPr lang="en-IN" smtClean="0"/>
              <a:t>10-05-2020</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2E0F1BD-A1B6-41D7-9133-5FB6AC20376A}" type="slidenum">
              <a:rPr lang="en-IN" smtClean="0"/>
              <a:t>‹#›</a:t>
            </a:fld>
            <a:endParaRPr lang="en-IN"/>
          </a:p>
        </p:txBody>
      </p:sp>
    </p:spTree>
    <p:extLst>
      <p:ext uri="{BB962C8B-B14F-4D97-AF65-F5344CB8AC3E}">
        <p14:creationId xmlns:p14="http://schemas.microsoft.com/office/powerpoint/2010/main" val="14590573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48E0BF6-0D4C-484A-992C-551FAF7406BF}" type="datetimeFigureOut">
              <a:rPr lang="en-IN" smtClean="0"/>
              <a:t>10-05-2020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2E0F1BD-A1B6-41D7-9133-5FB6AC20376A}" type="slidenum">
              <a:rPr lang="en-IN" smtClean="0"/>
              <a:t>‹#›</a:t>
            </a:fld>
            <a:endParaRPr lang="en-IN"/>
          </a:p>
        </p:txBody>
      </p:sp>
    </p:spTree>
    <p:extLst>
      <p:ext uri="{BB962C8B-B14F-4D97-AF65-F5344CB8AC3E}">
        <p14:creationId xmlns:p14="http://schemas.microsoft.com/office/powerpoint/2010/main" val="2225091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48E0BF6-0D4C-484A-992C-551FAF7406BF}" type="datetimeFigureOut">
              <a:rPr lang="en-IN" smtClean="0"/>
              <a:t>10-05-2020</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2E0F1BD-A1B6-41D7-9133-5FB6AC20376A}" type="slidenum">
              <a:rPr lang="en-IN" smtClean="0"/>
              <a:t>‹#›</a:t>
            </a:fld>
            <a:endParaRPr lang="en-IN"/>
          </a:p>
        </p:txBody>
      </p:sp>
    </p:spTree>
    <p:extLst>
      <p:ext uri="{BB962C8B-B14F-4D97-AF65-F5344CB8AC3E}">
        <p14:creationId xmlns:p14="http://schemas.microsoft.com/office/powerpoint/2010/main" val="31554135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48E0BF6-0D4C-484A-992C-551FAF7406BF}" type="datetimeFigureOut">
              <a:rPr lang="en-IN" smtClean="0"/>
              <a:t>10-05-2020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E0F1BD-A1B6-41D7-9133-5FB6AC20376A}" type="slidenum">
              <a:rPr lang="en-IN" smtClean="0"/>
              <a:t>‹#›</a:t>
            </a:fld>
            <a:endParaRPr lang="en-IN"/>
          </a:p>
        </p:txBody>
      </p:sp>
    </p:spTree>
    <p:extLst>
      <p:ext uri="{BB962C8B-B14F-4D97-AF65-F5344CB8AC3E}">
        <p14:creationId xmlns:p14="http://schemas.microsoft.com/office/powerpoint/2010/main" val="8452672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48E0BF6-0D4C-484A-992C-551FAF7406BF}" type="datetimeFigureOut">
              <a:rPr lang="en-IN" smtClean="0"/>
              <a:t>10-05-2020</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2E0F1BD-A1B6-41D7-9133-5FB6AC20376A}" type="slidenum">
              <a:rPr lang="en-IN" smtClean="0"/>
              <a:t>‹#›</a:t>
            </a:fld>
            <a:endParaRPr lang="en-IN"/>
          </a:p>
        </p:txBody>
      </p:sp>
    </p:spTree>
    <p:extLst>
      <p:ext uri="{BB962C8B-B14F-4D97-AF65-F5344CB8AC3E}">
        <p14:creationId xmlns:p14="http://schemas.microsoft.com/office/powerpoint/2010/main" val="30884415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48E0BF6-0D4C-484A-992C-551FAF7406BF}" type="datetimeFigureOut">
              <a:rPr lang="en-IN" smtClean="0"/>
              <a:t>10-05-2020</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E0F1BD-A1B6-41D7-9133-5FB6AC20376A}" type="slidenum">
              <a:rPr lang="en-IN" smtClean="0"/>
              <a:t>‹#›</a:t>
            </a:fld>
            <a:endParaRPr lang="en-IN"/>
          </a:p>
        </p:txBody>
      </p:sp>
    </p:spTree>
    <p:extLst>
      <p:ext uri="{BB962C8B-B14F-4D97-AF65-F5344CB8AC3E}">
        <p14:creationId xmlns:p14="http://schemas.microsoft.com/office/powerpoint/2010/main" val="24925247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8.xml"/><Relationship Id="rId6" Type="http://schemas.openxmlformats.org/officeDocument/2006/relationships/image" Target="../media/image7.png"/><Relationship Id="rId5" Type="http://schemas.openxmlformats.org/officeDocument/2006/relationships/image" Target="../media/image6.jpe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 Id="rId4" Type="http://schemas.openxmlformats.org/officeDocument/2006/relationships/image" Target="../media/image29.png"/></Relationships>
</file>

<file path=ppt/slides/_rels/slide3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 Id="rId5" Type="http://schemas.openxmlformats.org/officeDocument/2006/relationships/image" Target="../media/image33.png"/><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832760"/>
            <a:ext cx="9144000" cy="3183389"/>
          </a:xfrm>
          <a:solidFill>
            <a:schemeClr val="bg2">
              <a:lumMod val="90000"/>
            </a:schemeClr>
          </a:solidFill>
        </p:spPr>
        <p:txBody>
          <a:bodyPr anchor="ctr" anchorCtr="0">
            <a:noAutofit/>
          </a:bodyPr>
          <a:lstStyle/>
          <a:p>
            <a:r>
              <a:rPr lang="en-US" dirty="0" smtClean="0"/>
              <a:t>CAPSTONE PROJECT</a:t>
            </a:r>
            <a:br>
              <a:rPr lang="en-US" dirty="0" smtClean="0"/>
            </a:br>
            <a:r>
              <a:rPr lang="en-US" sz="4400" dirty="0" smtClean="0"/>
              <a:t>Automation of Ticket Assignment (NLP)</a:t>
            </a:r>
            <a:endParaRPr lang="en-IN" sz="4400" dirty="0"/>
          </a:p>
        </p:txBody>
      </p:sp>
      <p:sp>
        <p:nvSpPr>
          <p:cNvPr id="3" name="TextBox 2"/>
          <p:cNvSpPr txBox="1"/>
          <p:nvPr/>
        </p:nvSpPr>
        <p:spPr>
          <a:xfrm>
            <a:off x="734785" y="4433208"/>
            <a:ext cx="4041322" cy="1861457"/>
          </a:xfrm>
          <a:prstGeom prst="rect">
            <a:avLst/>
          </a:prstGeom>
          <a:solidFill>
            <a:srgbClr val="FFC000"/>
          </a:solidFill>
        </p:spPr>
        <p:txBody>
          <a:bodyPr wrap="none" rtlCol="0">
            <a:noAutofit/>
          </a:bodyPr>
          <a:lstStyle/>
          <a:p>
            <a:r>
              <a:rPr lang="en-US" b="1" u="sng" dirty="0" smtClean="0"/>
              <a:t>Group 10 A (Batch May 19)</a:t>
            </a:r>
          </a:p>
          <a:p>
            <a:pPr marL="285750" indent="-285750">
              <a:buFont typeface="Arial" panose="020B0604020202020204" pitchFamily="34" charset="0"/>
              <a:buChar char="•"/>
            </a:pPr>
            <a:r>
              <a:rPr lang="en-IN" dirty="0" err="1"/>
              <a:t>Anuj</a:t>
            </a:r>
            <a:r>
              <a:rPr lang="en-IN" dirty="0"/>
              <a:t> Kumar Agrawal</a:t>
            </a:r>
          </a:p>
          <a:p>
            <a:pPr marL="285750" indent="-285750">
              <a:buFont typeface="Arial" panose="020B0604020202020204" pitchFamily="34" charset="0"/>
              <a:buChar char="•"/>
            </a:pPr>
            <a:r>
              <a:rPr lang="en-IN" dirty="0"/>
              <a:t>Brijesh Kumar</a:t>
            </a:r>
          </a:p>
          <a:p>
            <a:pPr marL="285750" indent="-285750">
              <a:buFont typeface="Arial" panose="020B0604020202020204" pitchFamily="34" charset="0"/>
              <a:buChar char="•"/>
            </a:pPr>
            <a:r>
              <a:rPr lang="en-IN" dirty="0"/>
              <a:t>Girish Kumar</a:t>
            </a:r>
          </a:p>
          <a:p>
            <a:pPr marL="285750" indent="-285750">
              <a:buFont typeface="Arial" panose="020B0604020202020204" pitchFamily="34" charset="0"/>
              <a:buChar char="•"/>
            </a:pPr>
            <a:r>
              <a:rPr lang="en-IN" dirty="0"/>
              <a:t>Seema Malhotra</a:t>
            </a:r>
          </a:p>
          <a:p>
            <a:pPr marL="285750" indent="-285750">
              <a:buFont typeface="Arial" panose="020B0604020202020204" pitchFamily="34" charset="0"/>
              <a:buChar char="•"/>
            </a:pPr>
            <a:r>
              <a:rPr lang="en-IN" dirty="0"/>
              <a:t>Raman </a:t>
            </a:r>
            <a:r>
              <a:rPr lang="en-IN" dirty="0" err="1"/>
              <a:t>Rangasamy</a:t>
            </a:r>
            <a:endParaRPr lang="en-IN" dirty="0"/>
          </a:p>
          <a:p>
            <a:endParaRPr lang="en-US" dirty="0" smtClean="0"/>
          </a:p>
          <a:p>
            <a:endParaRPr lang="en-IN" dirty="0"/>
          </a:p>
        </p:txBody>
      </p:sp>
    </p:spTree>
    <p:extLst>
      <p:ext uri="{BB962C8B-B14F-4D97-AF65-F5344CB8AC3E}">
        <p14:creationId xmlns:p14="http://schemas.microsoft.com/office/powerpoint/2010/main" val="29473790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05053" y="47100"/>
            <a:ext cx="10606541" cy="767443"/>
          </a:xfrm>
        </p:spPr>
        <p:txBody>
          <a:bodyPr>
            <a:normAutofit/>
          </a:bodyPr>
          <a:lstStyle/>
          <a:p>
            <a:r>
              <a:rPr lang="en-US" dirty="0" smtClean="0"/>
              <a:t>Agenda  </a:t>
            </a:r>
            <a:endParaRPr lang="en-IN" dirty="0"/>
          </a:p>
        </p:txBody>
      </p:sp>
      <p:cxnSp>
        <p:nvCxnSpPr>
          <p:cNvPr id="34" name="Straight Arrow Connector 33"/>
          <p:cNvCxnSpPr/>
          <p:nvPr/>
        </p:nvCxnSpPr>
        <p:spPr>
          <a:xfrm>
            <a:off x="424543" y="-506186"/>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519431" y="1045029"/>
            <a:ext cx="10698297" cy="4604657"/>
          </a:xfrm>
          <a:prstGeom prst="rect">
            <a:avLst/>
          </a:prstGeom>
          <a:solidFill>
            <a:srgbClr val="002060"/>
          </a:solidFill>
          <a:ln>
            <a:solidFill>
              <a:schemeClr val="tx1"/>
            </a:solidFill>
          </a:ln>
        </p:spPr>
        <p:txBody>
          <a:bodyPr wrap="square" rtlCol="0">
            <a:noAutofit/>
          </a:bodyPr>
          <a:lstStyle/>
          <a:p>
            <a:pPr marL="285750" indent="-285750">
              <a:buFont typeface="Arial" panose="020B0604020202020204" pitchFamily="34" charset="0"/>
              <a:buChar char="•"/>
            </a:pPr>
            <a:r>
              <a:rPr lang="en-US" b="1" dirty="0" smtClean="0">
                <a:solidFill>
                  <a:schemeClr val="bg1"/>
                </a:solidFill>
              </a:rPr>
              <a:t>Current ITSP Process (IT Service Organization)</a:t>
            </a:r>
          </a:p>
          <a:p>
            <a:pPr marL="742950" lvl="1" indent="-285750">
              <a:buFont typeface="Arial" panose="020B0604020202020204" pitchFamily="34" charset="0"/>
              <a:buChar char="•"/>
            </a:pPr>
            <a:r>
              <a:rPr lang="en-US" b="1" dirty="0" smtClean="0">
                <a:solidFill>
                  <a:schemeClr val="bg1"/>
                </a:solidFill>
              </a:rPr>
              <a:t>Current IT Setup and Support Process</a:t>
            </a:r>
          </a:p>
          <a:p>
            <a:pPr marL="742950" lvl="1" indent="-285750">
              <a:buFont typeface="Arial" panose="020B0604020202020204" pitchFamily="34" charset="0"/>
              <a:buChar char="•"/>
            </a:pPr>
            <a:r>
              <a:rPr lang="en-US" b="1" dirty="0" smtClean="0">
                <a:solidFill>
                  <a:schemeClr val="bg1"/>
                </a:solidFill>
              </a:rPr>
              <a:t>Key Business Values</a:t>
            </a:r>
          </a:p>
          <a:p>
            <a:pPr marL="742950" lvl="1" indent="-285750">
              <a:buFont typeface="Arial" panose="020B0604020202020204" pitchFamily="34" charset="0"/>
              <a:buChar char="•"/>
            </a:pPr>
            <a:r>
              <a:rPr lang="en-US" b="1" dirty="0" smtClean="0">
                <a:solidFill>
                  <a:schemeClr val="bg1"/>
                </a:solidFill>
              </a:rPr>
              <a:t>Problem Areas</a:t>
            </a:r>
          </a:p>
          <a:p>
            <a:pPr marL="742950" lvl="1" indent="-285750">
              <a:buFont typeface="Arial" panose="020B0604020202020204" pitchFamily="34" charset="0"/>
              <a:buChar char="•"/>
            </a:pPr>
            <a:r>
              <a:rPr lang="en-US" b="1" dirty="0" smtClean="0">
                <a:solidFill>
                  <a:schemeClr val="bg1"/>
                </a:solidFill>
              </a:rPr>
              <a:t>Proposal for Improvement</a:t>
            </a:r>
          </a:p>
          <a:p>
            <a:pPr marL="285750" indent="-285750">
              <a:buFont typeface="Arial" panose="020B0604020202020204" pitchFamily="34" charset="0"/>
              <a:buChar char="•"/>
            </a:pPr>
            <a:r>
              <a:rPr lang="en-US" b="1" dirty="0" smtClean="0">
                <a:solidFill>
                  <a:schemeClr val="bg1"/>
                </a:solidFill>
              </a:rPr>
              <a:t>Exploratory Data Analysis</a:t>
            </a:r>
          </a:p>
          <a:p>
            <a:pPr marL="285750" indent="-285750">
              <a:buFont typeface="Arial" panose="020B0604020202020204" pitchFamily="34" charset="0"/>
              <a:buChar char="•"/>
            </a:pPr>
            <a:r>
              <a:rPr lang="en-US" b="1" dirty="0" smtClean="0">
                <a:solidFill>
                  <a:schemeClr val="bg1"/>
                </a:solidFill>
              </a:rPr>
              <a:t>Text Pre-Processing</a:t>
            </a:r>
          </a:p>
          <a:p>
            <a:pPr marL="742950" lvl="1" indent="-285750">
              <a:buFont typeface="Arial" panose="020B0604020202020204" pitchFamily="34" charset="0"/>
              <a:buChar char="•"/>
            </a:pPr>
            <a:r>
              <a:rPr lang="en-US" b="1" dirty="0" smtClean="0">
                <a:solidFill>
                  <a:schemeClr val="bg1"/>
                </a:solidFill>
              </a:rPr>
              <a:t>Text Cleaning </a:t>
            </a:r>
          </a:p>
          <a:p>
            <a:pPr marL="742950" lvl="1" indent="-285750">
              <a:buFont typeface="Arial" panose="020B0604020202020204" pitchFamily="34" charset="0"/>
              <a:buChar char="•"/>
            </a:pPr>
            <a:r>
              <a:rPr lang="en-US" b="1" dirty="0" smtClean="0">
                <a:solidFill>
                  <a:schemeClr val="bg1"/>
                </a:solidFill>
              </a:rPr>
              <a:t>Feature Extraction</a:t>
            </a:r>
          </a:p>
          <a:p>
            <a:pPr marL="742950" lvl="1" indent="-285750">
              <a:buFont typeface="Arial" panose="020B0604020202020204" pitchFamily="34" charset="0"/>
              <a:buChar char="•"/>
            </a:pPr>
            <a:r>
              <a:rPr lang="en-US" b="1" dirty="0" smtClean="0">
                <a:solidFill>
                  <a:schemeClr val="bg1"/>
                </a:solidFill>
              </a:rPr>
              <a:t>Topic Modeling</a:t>
            </a:r>
          </a:p>
          <a:p>
            <a:pPr marL="742950" lvl="1" indent="-285750">
              <a:buFont typeface="Arial" panose="020B0604020202020204" pitchFamily="34" charset="0"/>
              <a:buChar char="•"/>
            </a:pPr>
            <a:r>
              <a:rPr lang="en-US" b="1" dirty="0" smtClean="0">
                <a:solidFill>
                  <a:schemeClr val="bg1"/>
                </a:solidFill>
              </a:rPr>
              <a:t>Model Building (Various ML Algorithm and Deep Learning )</a:t>
            </a:r>
          </a:p>
          <a:p>
            <a:pPr marL="742950" lvl="1" indent="-285750">
              <a:buFont typeface="Arial" panose="020B0604020202020204" pitchFamily="34" charset="0"/>
              <a:buChar char="•"/>
            </a:pPr>
            <a:r>
              <a:rPr lang="en-US" b="1" dirty="0" smtClean="0">
                <a:solidFill>
                  <a:schemeClr val="bg1"/>
                </a:solidFill>
              </a:rPr>
              <a:t>Model Evaluation and Fine Tuning</a:t>
            </a:r>
          </a:p>
          <a:p>
            <a:pPr marL="285750" indent="-285750">
              <a:buFont typeface="Arial" panose="020B0604020202020204" pitchFamily="34" charset="0"/>
              <a:buChar char="•"/>
            </a:pPr>
            <a:r>
              <a:rPr lang="en-US" b="1" dirty="0" smtClean="0">
                <a:solidFill>
                  <a:schemeClr val="bg1"/>
                </a:solidFill>
              </a:rPr>
              <a:t>Evaluate Business </a:t>
            </a:r>
            <a:r>
              <a:rPr lang="en-US" b="1" dirty="0" smtClean="0">
                <a:solidFill>
                  <a:schemeClr val="bg1"/>
                </a:solidFill>
              </a:rPr>
              <a:t>Objectives</a:t>
            </a:r>
          </a:p>
          <a:p>
            <a:pPr marL="285750" indent="-285750">
              <a:buFont typeface="Arial" panose="020B0604020202020204" pitchFamily="34" charset="0"/>
              <a:buChar char="•"/>
            </a:pPr>
            <a:r>
              <a:rPr lang="en-US" b="1" smtClean="0">
                <a:solidFill>
                  <a:schemeClr val="bg1"/>
                </a:solidFill>
              </a:rPr>
              <a:t>Model Deployment</a:t>
            </a:r>
            <a:endParaRPr lang="en-US" b="1" dirty="0" smtClean="0">
              <a:solidFill>
                <a:schemeClr val="bg1"/>
              </a:solidFill>
            </a:endParaRPr>
          </a:p>
          <a:p>
            <a:pPr marL="285750" indent="-285750">
              <a:buFont typeface="Arial" panose="020B0604020202020204" pitchFamily="34" charset="0"/>
              <a:buChar char="•"/>
            </a:pPr>
            <a:r>
              <a:rPr lang="en-US" b="1" dirty="0" smtClean="0">
                <a:solidFill>
                  <a:schemeClr val="bg1"/>
                </a:solidFill>
              </a:rPr>
              <a:t>Conclusion </a:t>
            </a:r>
          </a:p>
          <a:p>
            <a:pPr marL="742950" lvl="1" indent="-285750">
              <a:buFont typeface="Arial" panose="020B0604020202020204" pitchFamily="34" charset="0"/>
              <a:buChar char="•"/>
            </a:pPr>
            <a:r>
              <a:rPr lang="en-US" b="1" dirty="0" smtClean="0">
                <a:solidFill>
                  <a:schemeClr val="bg1"/>
                </a:solidFill>
              </a:rPr>
              <a:t>Further Improvements</a:t>
            </a:r>
          </a:p>
          <a:p>
            <a:pPr marL="285750" indent="-285750">
              <a:buFont typeface="Arial" panose="020B0604020202020204" pitchFamily="34" charset="0"/>
              <a:buChar char="•"/>
            </a:pPr>
            <a:endParaRPr lang="en-US" b="1" dirty="0">
              <a:solidFill>
                <a:schemeClr val="bg1"/>
              </a:solidFill>
            </a:endParaRPr>
          </a:p>
          <a:p>
            <a:endParaRPr lang="en-US" b="1" u="sng" dirty="0" smtClean="0">
              <a:solidFill>
                <a:schemeClr val="bg1"/>
              </a:solidFill>
            </a:endParaRPr>
          </a:p>
          <a:p>
            <a:pPr marL="742950" lvl="1" indent="-285750">
              <a:buFont typeface="Arial" panose="020B0604020202020204" pitchFamily="34" charset="0"/>
              <a:buChar char="•"/>
            </a:pPr>
            <a:endParaRPr lang="en-US" b="1" u="sng" dirty="0" smtClean="0">
              <a:solidFill>
                <a:schemeClr val="bg1"/>
              </a:solidFill>
            </a:endParaRPr>
          </a:p>
          <a:p>
            <a:pPr marL="742950" lvl="1" indent="-285750">
              <a:buFont typeface="Arial" panose="020B0604020202020204" pitchFamily="34" charset="0"/>
              <a:buChar char="•"/>
            </a:pPr>
            <a:endParaRPr lang="en-US" b="1" u="sng" dirty="0" smtClean="0">
              <a:solidFill>
                <a:schemeClr val="bg1"/>
              </a:solidFill>
            </a:endParaRPr>
          </a:p>
          <a:p>
            <a:pPr marL="285750" indent="-285750">
              <a:buFont typeface="Arial" panose="020B0604020202020204" pitchFamily="34" charset="0"/>
              <a:buChar char="•"/>
            </a:pPr>
            <a:endParaRPr lang="en-US" b="1" u="sng" dirty="0" smtClean="0">
              <a:solidFill>
                <a:schemeClr val="bg1"/>
              </a:solidFill>
            </a:endParaRPr>
          </a:p>
        </p:txBody>
      </p:sp>
    </p:spTree>
    <p:extLst>
      <p:ext uri="{BB962C8B-B14F-4D97-AF65-F5344CB8AC3E}">
        <p14:creationId xmlns:p14="http://schemas.microsoft.com/office/powerpoint/2010/main" val="14119828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64"/>
          <p:cNvSpPr/>
          <p:nvPr/>
        </p:nvSpPr>
        <p:spPr>
          <a:xfrm>
            <a:off x="858841" y="975360"/>
            <a:ext cx="5887583" cy="1672591"/>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4" name="Rectangle 63"/>
          <p:cNvSpPr/>
          <p:nvPr/>
        </p:nvSpPr>
        <p:spPr>
          <a:xfrm>
            <a:off x="837069" y="2658834"/>
            <a:ext cx="5887583" cy="1877786"/>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3" name="Rectangle 62"/>
          <p:cNvSpPr/>
          <p:nvPr/>
        </p:nvSpPr>
        <p:spPr>
          <a:xfrm>
            <a:off x="839788" y="4555671"/>
            <a:ext cx="5887583" cy="18777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itle 3"/>
          <p:cNvSpPr>
            <a:spLocks noGrp="1"/>
          </p:cNvSpPr>
          <p:nvPr>
            <p:ph type="title"/>
          </p:nvPr>
        </p:nvSpPr>
        <p:spPr>
          <a:xfrm>
            <a:off x="505053" y="-18212"/>
            <a:ext cx="10606541" cy="767443"/>
          </a:xfrm>
        </p:spPr>
        <p:txBody>
          <a:bodyPr/>
          <a:lstStyle/>
          <a:p>
            <a:r>
              <a:rPr lang="en-US" dirty="0" smtClean="0"/>
              <a:t>Current IT Support Process Setup </a:t>
            </a:r>
            <a:endParaRPr lang="en-IN"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0369" y="3028950"/>
            <a:ext cx="1735592" cy="1053193"/>
          </a:xfrm>
          <a:prstGeom prst="rect">
            <a:avLst/>
          </a:prstGeom>
        </p:spPr>
      </p:pic>
      <p:pic>
        <p:nvPicPr>
          <p:cNvPr id="9" name="Picture 8"/>
          <p:cNvPicPr>
            <a:picLocks noChangeAspect="1"/>
          </p:cNvPicPr>
          <p:nvPr/>
        </p:nvPicPr>
        <p:blipFill>
          <a:blip r:embed="rId3"/>
          <a:stretch>
            <a:fillRect/>
          </a:stretch>
        </p:blipFill>
        <p:spPr>
          <a:xfrm>
            <a:off x="909638" y="1396093"/>
            <a:ext cx="2543854" cy="800518"/>
          </a:xfrm>
          <a:prstGeom prst="rect">
            <a:avLst/>
          </a:prstGeom>
        </p:spPr>
      </p:pic>
      <p:pic>
        <p:nvPicPr>
          <p:cNvPr id="13" name="Picture 12"/>
          <p:cNvPicPr>
            <a:picLocks noChangeAspect="1"/>
          </p:cNvPicPr>
          <p:nvPr/>
        </p:nvPicPr>
        <p:blipFill>
          <a:blip r:embed="rId4"/>
          <a:stretch>
            <a:fillRect/>
          </a:stretch>
        </p:blipFill>
        <p:spPr>
          <a:xfrm>
            <a:off x="3624945" y="1412421"/>
            <a:ext cx="2473776" cy="783772"/>
          </a:xfrm>
          <a:prstGeom prst="rect">
            <a:avLst/>
          </a:prstGeom>
        </p:spPr>
      </p:pic>
      <p:pic>
        <p:nvPicPr>
          <p:cNvPr id="19" name="Picture 18"/>
          <p:cNvPicPr>
            <a:picLocks noChangeAspect="1"/>
          </p:cNvPicPr>
          <p:nvPr/>
        </p:nvPicPr>
        <p:blipFill>
          <a:blip r:embed="rId5"/>
          <a:stretch>
            <a:fillRect/>
          </a:stretch>
        </p:blipFill>
        <p:spPr>
          <a:xfrm>
            <a:off x="1004208" y="5331279"/>
            <a:ext cx="2792185" cy="734104"/>
          </a:xfrm>
          <a:prstGeom prst="rect">
            <a:avLst/>
          </a:prstGeom>
        </p:spPr>
      </p:pic>
      <p:pic>
        <p:nvPicPr>
          <p:cNvPr id="31" name="Picture 30"/>
          <p:cNvPicPr>
            <a:picLocks noChangeAspect="1"/>
          </p:cNvPicPr>
          <p:nvPr/>
        </p:nvPicPr>
        <p:blipFill>
          <a:blip r:embed="rId5"/>
          <a:stretch>
            <a:fillRect/>
          </a:stretch>
        </p:blipFill>
        <p:spPr>
          <a:xfrm>
            <a:off x="3720194" y="5331279"/>
            <a:ext cx="2792185" cy="734104"/>
          </a:xfrm>
          <a:prstGeom prst="rect">
            <a:avLst/>
          </a:prstGeom>
        </p:spPr>
      </p:pic>
      <p:pic>
        <p:nvPicPr>
          <p:cNvPr id="33" name="Picture 3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60310" y="3033030"/>
            <a:ext cx="1735592" cy="1053193"/>
          </a:xfrm>
          <a:prstGeom prst="rect">
            <a:avLst/>
          </a:prstGeom>
        </p:spPr>
      </p:pic>
      <p:sp>
        <p:nvSpPr>
          <p:cNvPr id="20" name="TextBox 19"/>
          <p:cNvSpPr txBox="1"/>
          <p:nvPr/>
        </p:nvSpPr>
        <p:spPr>
          <a:xfrm>
            <a:off x="1151164" y="4865913"/>
            <a:ext cx="5119007" cy="367393"/>
          </a:xfrm>
          <a:prstGeom prst="rect">
            <a:avLst/>
          </a:prstGeom>
          <a:pattFill prst="lgCheck">
            <a:fgClr>
              <a:schemeClr val="accent4">
                <a:lumMod val="20000"/>
                <a:lumOff val="80000"/>
              </a:schemeClr>
            </a:fgClr>
            <a:bgClr>
              <a:schemeClr val="bg1"/>
            </a:bgClr>
          </a:pattFill>
          <a:ln>
            <a:solidFill>
              <a:schemeClr val="tx1"/>
            </a:solidFill>
          </a:ln>
        </p:spPr>
        <p:txBody>
          <a:bodyPr wrap="square" rtlCol="0">
            <a:spAutoFit/>
          </a:bodyPr>
          <a:lstStyle/>
          <a:p>
            <a:pPr algn="ctr"/>
            <a:r>
              <a:rPr lang="en-US" dirty="0" smtClean="0"/>
              <a:t>IT Service Portal </a:t>
            </a:r>
            <a:endParaRPr lang="en-IN" dirty="0"/>
          </a:p>
        </p:txBody>
      </p:sp>
      <p:cxnSp>
        <p:nvCxnSpPr>
          <p:cNvPr id="22" name="Straight Arrow Connector 21"/>
          <p:cNvCxnSpPr/>
          <p:nvPr/>
        </p:nvCxnSpPr>
        <p:spPr>
          <a:xfrm flipV="1">
            <a:off x="2041073" y="4078059"/>
            <a:ext cx="0" cy="7878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2495552" y="4067176"/>
            <a:ext cx="0" cy="7878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2982684" y="4072621"/>
            <a:ext cx="0" cy="7878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flipV="1">
            <a:off x="3469818" y="4069898"/>
            <a:ext cx="0" cy="7878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V="1">
            <a:off x="3932466" y="4075344"/>
            <a:ext cx="0" cy="7878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V="1">
            <a:off x="4452257" y="4086223"/>
            <a:ext cx="0" cy="7878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flipV="1">
            <a:off x="4955722" y="4059012"/>
            <a:ext cx="0" cy="7878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H="1" flipV="1">
            <a:off x="1371600" y="2196611"/>
            <a:ext cx="8164" cy="2650255"/>
          </a:xfrm>
          <a:prstGeom prst="straightConnector1">
            <a:avLst/>
          </a:prstGeom>
          <a:ln w="127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H="1" flipV="1">
            <a:off x="1679121" y="2193891"/>
            <a:ext cx="8164" cy="2650255"/>
          </a:xfrm>
          <a:prstGeom prst="straightConnector1">
            <a:avLst/>
          </a:prstGeom>
          <a:ln w="127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H="1" flipV="1">
            <a:off x="5456471" y="2174845"/>
            <a:ext cx="8164" cy="2650255"/>
          </a:xfrm>
          <a:prstGeom prst="straightConnector1">
            <a:avLst/>
          </a:prstGeom>
          <a:ln w="127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flipH="1" flipV="1">
            <a:off x="5772155" y="2172124"/>
            <a:ext cx="8164" cy="2650255"/>
          </a:xfrm>
          <a:prstGeom prst="straightConnector1">
            <a:avLst/>
          </a:prstGeom>
          <a:ln w="127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424543" y="-506186"/>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V="1">
            <a:off x="2528208" y="2172124"/>
            <a:ext cx="0" cy="856826"/>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flipV="1">
            <a:off x="2982687" y="2144910"/>
            <a:ext cx="0" cy="856826"/>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flipV="1">
            <a:off x="3829051" y="2158519"/>
            <a:ext cx="0" cy="856826"/>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4275367" y="2155799"/>
            <a:ext cx="0" cy="856826"/>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flipV="1">
            <a:off x="2109112" y="2161238"/>
            <a:ext cx="0" cy="856826"/>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flipV="1">
            <a:off x="4860473" y="2153077"/>
            <a:ext cx="0" cy="856826"/>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a:off x="3208564" y="1796352"/>
            <a:ext cx="587829" cy="0"/>
          </a:xfrm>
          <a:prstGeom prst="straightConnector1">
            <a:avLst/>
          </a:prstGeom>
          <a:ln w="25400">
            <a:solidFill>
              <a:srgbClr val="00206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2277829" y="6098726"/>
            <a:ext cx="3298371" cy="307777"/>
          </a:xfrm>
          <a:prstGeom prst="rect">
            <a:avLst/>
          </a:prstGeom>
          <a:solidFill>
            <a:schemeClr val="bg1"/>
          </a:solidFill>
        </p:spPr>
        <p:txBody>
          <a:bodyPr wrap="square" rtlCol="0">
            <a:spAutoFit/>
          </a:bodyPr>
          <a:lstStyle/>
          <a:p>
            <a:r>
              <a:rPr lang="en-US" sz="1400" dirty="0" smtClean="0"/>
              <a:t>End Users/ Business User/Vendor/Supplier</a:t>
            </a:r>
            <a:endParaRPr lang="en-IN" sz="1400" dirty="0"/>
          </a:p>
        </p:txBody>
      </p:sp>
      <p:sp>
        <p:nvSpPr>
          <p:cNvPr id="67" name="TextBox 66"/>
          <p:cNvSpPr txBox="1"/>
          <p:nvPr/>
        </p:nvSpPr>
        <p:spPr>
          <a:xfrm>
            <a:off x="2740479" y="4330184"/>
            <a:ext cx="1415144" cy="307777"/>
          </a:xfrm>
          <a:prstGeom prst="rect">
            <a:avLst/>
          </a:prstGeom>
          <a:solidFill>
            <a:schemeClr val="bg1"/>
          </a:solidFill>
          <a:ln>
            <a:solidFill>
              <a:schemeClr val="tx1"/>
            </a:solidFill>
          </a:ln>
        </p:spPr>
        <p:txBody>
          <a:bodyPr wrap="square" rtlCol="0">
            <a:spAutoFit/>
          </a:bodyPr>
          <a:lstStyle/>
          <a:p>
            <a:r>
              <a:rPr lang="en-US" sz="1400" dirty="0" smtClean="0"/>
              <a:t>Support Tickets</a:t>
            </a:r>
            <a:endParaRPr lang="en-IN" sz="1400" dirty="0"/>
          </a:p>
        </p:txBody>
      </p:sp>
      <p:sp>
        <p:nvSpPr>
          <p:cNvPr id="68" name="TextBox 67"/>
          <p:cNvSpPr txBox="1"/>
          <p:nvPr/>
        </p:nvSpPr>
        <p:spPr>
          <a:xfrm rot="16200000">
            <a:off x="5585280" y="3326310"/>
            <a:ext cx="1521274" cy="523220"/>
          </a:xfrm>
          <a:prstGeom prst="rect">
            <a:avLst/>
          </a:prstGeom>
          <a:solidFill>
            <a:schemeClr val="bg1"/>
          </a:solidFill>
          <a:ln>
            <a:solidFill>
              <a:schemeClr val="tx1"/>
            </a:solidFill>
          </a:ln>
        </p:spPr>
        <p:txBody>
          <a:bodyPr wrap="square" rtlCol="0">
            <a:spAutoFit/>
          </a:bodyPr>
          <a:lstStyle/>
          <a:p>
            <a:pPr algn="ctr"/>
            <a:r>
              <a:rPr lang="en-US" sz="1400" dirty="0" smtClean="0"/>
              <a:t>Service Desk</a:t>
            </a:r>
          </a:p>
          <a:p>
            <a:pPr algn="ctr"/>
            <a:r>
              <a:rPr lang="en-US" sz="1400" dirty="0" smtClean="0"/>
              <a:t>(L1/L2 tickets)</a:t>
            </a:r>
            <a:endParaRPr lang="en-IN" sz="1400" dirty="0"/>
          </a:p>
        </p:txBody>
      </p:sp>
      <p:sp>
        <p:nvSpPr>
          <p:cNvPr id="69" name="TextBox 68"/>
          <p:cNvSpPr txBox="1"/>
          <p:nvPr/>
        </p:nvSpPr>
        <p:spPr>
          <a:xfrm>
            <a:off x="2760799" y="2501384"/>
            <a:ext cx="1415144" cy="307777"/>
          </a:xfrm>
          <a:prstGeom prst="rect">
            <a:avLst/>
          </a:prstGeom>
          <a:solidFill>
            <a:schemeClr val="bg1"/>
          </a:solidFill>
          <a:ln>
            <a:solidFill>
              <a:schemeClr val="tx1"/>
            </a:solidFill>
          </a:ln>
        </p:spPr>
        <p:txBody>
          <a:bodyPr wrap="square" rtlCol="0">
            <a:spAutoFit/>
          </a:bodyPr>
          <a:lstStyle/>
          <a:p>
            <a:pPr algn="ctr"/>
            <a:r>
              <a:rPr lang="en-US" sz="1400" b="1" dirty="0" smtClean="0">
                <a:solidFill>
                  <a:srgbClr val="FF0000"/>
                </a:solidFill>
              </a:rPr>
              <a:t>L3 Tickets</a:t>
            </a:r>
            <a:endParaRPr lang="en-IN" sz="1400" b="1" dirty="0">
              <a:solidFill>
                <a:srgbClr val="FF0000"/>
              </a:solidFill>
            </a:endParaRPr>
          </a:p>
        </p:txBody>
      </p:sp>
      <p:sp>
        <p:nvSpPr>
          <p:cNvPr id="71" name="TextBox 70"/>
          <p:cNvSpPr txBox="1"/>
          <p:nvPr/>
        </p:nvSpPr>
        <p:spPr>
          <a:xfrm rot="16200000">
            <a:off x="653876" y="3354154"/>
            <a:ext cx="1415144" cy="307777"/>
          </a:xfrm>
          <a:prstGeom prst="rect">
            <a:avLst/>
          </a:prstGeom>
          <a:solidFill>
            <a:schemeClr val="bg1"/>
          </a:solidFill>
          <a:ln>
            <a:solidFill>
              <a:schemeClr val="tx1"/>
            </a:solidFill>
          </a:ln>
        </p:spPr>
        <p:txBody>
          <a:bodyPr wrap="square" rtlCol="0">
            <a:spAutoFit/>
          </a:bodyPr>
          <a:lstStyle/>
          <a:p>
            <a:pPr algn="ctr"/>
            <a:r>
              <a:rPr lang="en-US" sz="1400" b="1" dirty="0" smtClean="0">
                <a:solidFill>
                  <a:srgbClr val="FF0000"/>
                </a:solidFill>
              </a:rPr>
              <a:t>L3 Tickets</a:t>
            </a:r>
            <a:endParaRPr lang="en-IN" sz="1400" b="1" dirty="0">
              <a:solidFill>
                <a:srgbClr val="FF0000"/>
              </a:solidFill>
            </a:endParaRPr>
          </a:p>
        </p:txBody>
      </p:sp>
      <p:sp>
        <p:nvSpPr>
          <p:cNvPr id="72" name="TextBox 71"/>
          <p:cNvSpPr txBox="1"/>
          <p:nvPr/>
        </p:nvSpPr>
        <p:spPr>
          <a:xfrm rot="16200000">
            <a:off x="4860117" y="3394794"/>
            <a:ext cx="1415144" cy="307777"/>
          </a:xfrm>
          <a:prstGeom prst="rect">
            <a:avLst/>
          </a:prstGeom>
          <a:solidFill>
            <a:schemeClr val="bg1"/>
          </a:solidFill>
          <a:ln>
            <a:solidFill>
              <a:schemeClr val="tx1"/>
            </a:solidFill>
          </a:ln>
        </p:spPr>
        <p:txBody>
          <a:bodyPr wrap="square" rtlCol="0">
            <a:spAutoFit/>
          </a:bodyPr>
          <a:lstStyle/>
          <a:p>
            <a:pPr algn="ctr"/>
            <a:r>
              <a:rPr lang="en-US" sz="1400" b="1" dirty="0" smtClean="0">
                <a:solidFill>
                  <a:srgbClr val="FF0000"/>
                </a:solidFill>
              </a:rPr>
              <a:t>L3 Tickets</a:t>
            </a:r>
            <a:endParaRPr lang="en-IN" sz="1400" b="1" dirty="0">
              <a:solidFill>
                <a:srgbClr val="FF0000"/>
              </a:solidFill>
            </a:endParaRPr>
          </a:p>
        </p:txBody>
      </p:sp>
      <p:sp>
        <p:nvSpPr>
          <p:cNvPr id="73" name="TextBox 72"/>
          <p:cNvSpPr txBox="1"/>
          <p:nvPr/>
        </p:nvSpPr>
        <p:spPr>
          <a:xfrm>
            <a:off x="2181675" y="1063179"/>
            <a:ext cx="3091365" cy="307777"/>
          </a:xfrm>
          <a:prstGeom prst="rect">
            <a:avLst/>
          </a:prstGeom>
          <a:solidFill>
            <a:schemeClr val="bg1"/>
          </a:solidFill>
          <a:ln>
            <a:solidFill>
              <a:schemeClr val="tx1"/>
            </a:solidFill>
          </a:ln>
        </p:spPr>
        <p:txBody>
          <a:bodyPr wrap="square" rtlCol="0">
            <a:spAutoFit/>
          </a:bodyPr>
          <a:lstStyle/>
          <a:p>
            <a:r>
              <a:rPr lang="en-US" sz="1400" dirty="0" smtClean="0"/>
              <a:t>IT / Functional Expert Groups/ Vendors </a:t>
            </a:r>
            <a:endParaRPr lang="en-IN" sz="1400" dirty="0"/>
          </a:p>
        </p:txBody>
      </p:sp>
      <p:sp>
        <p:nvSpPr>
          <p:cNvPr id="74" name="TextBox 73"/>
          <p:cNvSpPr txBox="1"/>
          <p:nvPr/>
        </p:nvSpPr>
        <p:spPr>
          <a:xfrm>
            <a:off x="6846751" y="975359"/>
            <a:ext cx="4918529" cy="5431143"/>
          </a:xfrm>
          <a:prstGeom prst="rect">
            <a:avLst/>
          </a:prstGeom>
          <a:solidFill>
            <a:srgbClr val="002060"/>
          </a:solidFill>
          <a:ln>
            <a:solidFill>
              <a:schemeClr val="tx1"/>
            </a:solidFill>
          </a:ln>
        </p:spPr>
        <p:txBody>
          <a:bodyPr wrap="square" rtlCol="0">
            <a:noAutofit/>
          </a:bodyPr>
          <a:lstStyle/>
          <a:p>
            <a:endParaRPr lang="en-US" b="1" u="sng" dirty="0" smtClean="0">
              <a:solidFill>
                <a:schemeClr val="bg1"/>
              </a:solidFill>
            </a:endParaRPr>
          </a:p>
          <a:p>
            <a:r>
              <a:rPr lang="en-US" b="1" u="sng" dirty="0" smtClean="0">
                <a:solidFill>
                  <a:schemeClr val="bg1"/>
                </a:solidFill>
              </a:rPr>
              <a:t>IT Support Process :</a:t>
            </a:r>
          </a:p>
          <a:p>
            <a:pPr marL="285750" indent="-285750">
              <a:buFont typeface="Arial" panose="020B0604020202020204" pitchFamily="34" charset="0"/>
              <a:buChar char="•"/>
            </a:pPr>
            <a:r>
              <a:rPr lang="en-US" dirty="0" smtClean="0">
                <a:solidFill>
                  <a:schemeClr val="bg1"/>
                </a:solidFill>
              </a:rPr>
              <a:t>End users (composed of IT Users/ Business Users and Vendor and Supplier (if they have access to IT Support Portal) create IT incidents / tickets using IT Support Portal</a:t>
            </a:r>
          </a:p>
          <a:p>
            <a:pPr marL="285750" indent="-285750">
              <a:buFont typeface="Arial" panose="020B0604020202020204" pitchFamily="34" charset="0"/>
              <a:buChar char="•"/>
            </a:pPr>
            <a:r>
              <a:rPr lang="en-US" dirty="0" smtClean="0">
                <a:solidFill>
                  <a:schemeClr val="bg1"/>
                </a:solidFill>
              </a:rPr>
              <a:t>The tickets are automatically assigned to Service Desk. </a:t>
            </a:r>
          </a:p>
          <a:p>
            <a:pPr marL="285750" indent="-285750">
              <a:buFont typeface="Arial" panose="020B0604020202020204" pitchFamily="34" charset="0"/>
              <a:buChar char="•"/>
            </a:pPr>
            <a:r>
              <a:rPr lang="en-US" dirty="0" smtClean="0">
                <a:solidFill>
                  <a:schemeClr val="bg1"/>
                </a:solidFill>
              </a:rPr>
              <a:t>Service Desk resolves the L1/L2 tickets</a:t>
            </a:r>
          </a:p>
          <a:p>
            <a:pPr marL="285750" indent="-285750">
              <a:buFont typeface="Arial" panose="020B0604020202020204" pitchFamily="34" charset="0"/>
              <a:buChar char="•"/>
            </a:pPr>
            <a:r>
              <a:rPr lang="en-US" dirty="0" smtClean="0">
                <a:solidFill>
                  <a:schemeClr val="bg1"/>
                </a:solidFill>
              </a:rPr>
              <a:t>If Service Desk is unable to solve the tickets (L3 tickets), they assign the L3 tickets to Functional and IT Experts. </a:t>
            </a:r>
          </a:p>
          <a:p>
            <a:pPr marL="285750" indent="-285750">
              <a:buFont typeface="Arial" panose="020B0604020202020204" pitchFamily="34" charset="0"/>
              <a:buChar char="•"/>
            </a:pPr>
            <a:r>
              <a:rPr lang="en-US" dirty="0" smtClean="0">
                <a:solidFill>
                  <a:schemeClr val="bg1"/>
                </a:solidFill>
              </a:rPr>
              <a:t>Functional / IT Experts resolves the L3 tickets. If required, external vendor’s help is taken for L3 tickets resolution</a:t>
            </a:r>
          </a:p>
          <a:p>
            <a:pPr marL="285750" indent="-285750">
              <a:buFont typeface="Arial" panose="020B0604020202020204" pitchFamily="34" charset="0"/>
              <a:buChar char="•"/>
            </a:pPr>
            <a:r>
              <a:rPr lang="en-US" dirty="0" smtClean="0">
                <a:solidFill>
                  <a:schemeClr val="bg1"/>
                </a:solidFill>
              </a:rPr>
              <a:t>L3 tickets/ priority tickets can be directly assigned to Functional experts in case of urgency via phone calls/ e-mails etc.</a:t>
            </a:r>
            <a:endParaRPr lang="en-US" dirty="0">
              <a:solidFill>
                <a:schemeClr val="bg1"/>
              </a:solidFill>
            </a:endParaRPr>
          </a:p>
          <a:p>
            <a:pPr marL="285750" indent="-285750">
              <a:buFont typeface="Arial" panose="020B0604020202020204" pitchFamily="34" charset="0"/>
              <a:buChar char="•"/>
            </a:pPr>
            <a:endParaRPr lang="en-IN" dirty="0">
              <a:solidFill>
                <a:schemeClr val="bg1"/>
              </a:solidFill>
            </a:endParaRPr>
          </a:p>
        </p:txBody>
      </p:sp>
    </p:spTree>
    <p:extLst>
      <p:ext uri="{BB962C8B-B14F-4D97-AF65-F5344CB8AC3E}">
        <p14:creationId xmlns:p14="http://schemas.microsoft.com/office/powerpoint/2010/main" val="294372651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05053" y="-18212"/>
            <a:ext cx="10606541" cy="767443"/>
          </a:xfrm>
        </p:spPr>
        <p:txBody>
          <a:bodyPr>
            <a:normAutofit/>
          </a:bodyPr>
          <a:lstStyle/>
          <a:p>
            <a:r>
              <a:rPr lang="en-US" dirty="0" smtClean="0"/>
              <a:t>Current </a:t>
            </a:r>
            <a:r>
              <a:rPr lang="en-US" dirty="0"/>
              <a:t>IT Support Process </a:t>
            </a:r>
            <a:r>
              <a:rPr lang="en-US" dirty="0" smtClean="0"/>
              <a:t> </a:t>
            </a:r>
            <a:r>
              <a:rPr lang="en-US" dirty="0"/>
              <a:t>: Keys Business Values </a:t>
            </a:r>
            <a:endParaRPr lang="en-IN" dirty="0"/>
          </a:p>
        </p:txBody>
      </p:sp>
      <p:cxnSp>
        <p:nvCxnSpPr>
          <p:cNvPr id="34" name="Straight Arrow Connector 33"/>
          <p:cNvCxnSpPr/>
          <p:nvPr/>
        </p:nvCxnSpPr>
        <p:spPr>
          <a:xfrm>
            <a:off x="424543" y="-506186"/>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2" name="Group 1"/>
          <p:cNvGrpSpPr/>
          <p:nvPr/>
        </p:nvGrpSpPr>
        <p:grpSpPr>
          <a:xfrm>
            <a:off x="837069" y="975360"/>
            <a:ext cx="5909355" cy="5458097"/>
            <a:chOff x="837069" y="975360"/>
            <a:chExt cx="5909355" cy="5458097"/>
          </a:xfrm>
        </p:grpSpPr>
        <p:sp>
          <p:nvSpPr>
            <p:cNvPr id="65" name="Rectangle 64"/>
            <p:cNvSpPr/>
            <p:nvPr/>
          </p:nvSpPr>
          <p:spPr>
            <a:xfrm>
              <a:off x="858841" y="975360"/>
              <a:ext cx="5887583" cy="1672591"/>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4" name="Rectangle 63"/>
            <p:cNvSpPr/>
            <p:nvPr/>
          </p:nvSpPr>
          <p:spPr>
            <a:xfrm>
              <a:off x="837069" y="2658834"/>
              <a:ext cx="5887583" cy="1877786"/>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3" name="Rectangle 62"/>
            <p:cNvSpPr/>
            <p:nvPr/>
          </p:nvSpPr>
          <p:spPr>
            <a:xfrm>
              <a:off x="839788" y="4555671"/>
              <a:ext cx="5887583" cy="18777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40369" y="3028950"/>
              <a:ext cx="1735592" cy="1053193"/>
            </a:xfrm>
            <a:prstGeom prst="rect">
              <a:avLst/>
            </a:prstGeom>
          </p:spPr>
        </p:pic>
        <p:pic>
          <p:nvPicPr>
            <p:cNvPr id="9" name="Picture 8"/>
            <p:cNvPicPr>
              <a:picLocks noChangeAspect="1"/>
            </p:cNvPicPr>
            <p:nvPr/>
          </p:nvPicPr>
          <p:blipFill>
            <a:blip r:embed="rId3"/>
            <a:stretch>
              <a:fillRect/>
            </a:stretch>
          </p:blipFill>
          <p:spPr>
            <a:xfrm>
              <a:off x="909638" y="1396093"/>
              <a:ext cx="2543854" cy="800518"/>
            </a:xfrm>
            <a:prstGeom prst="rect">
              <a:avLst/>
            </a:prstGeom>
          </p:spPr>
        </p:pic>
        <p:pic>
          <p:nvPicPr>
            <p:cNvPr id="13" name="Picture 12"/>
            <p:cNvPicPr>
              <a:picLocks noChangeAspect="1"/>
            </p:cNvPicPr>
            <p:nvPr/>
          </p:nvPicPr>
          <p:blipFill>
            <a:blip r:embed="rId4"/>
            <a:stretch>
              <a:fillRect/>
            </a:stretch>
          </p:blipFill>
          <p:spPr>
            <a:xfrm>
              <a:off x="3624945" y="1412421"/>
              <a:ext cx="2473776" cy="783772"/>
            </a:xfrm>
            <a:prstGeom prst="rect">
              <a:avLst/>
            </a:prstGeom>
          </p:spPr>
        </p:pic>
        <p:pic>
          <p:nvPicPr>
            <p:cNvPr id="19" name="Picture 18"/>
            <p:cNvPicPr>
              <a:picLocks noChangeAspect="1"/>
            </p:cNvPicPr>
            <p:nvPr/>
          </p:nvPicPr>
          <p:blipFill>
            <a:blip r:embed="rId5"/>
            <a:stretch>
              <a:fillRect/>
            </a:stretch>
          </p:blipFill>
          <p:spPr>
            <a:xfrm>
              <a:off x="1004208" y="5331279"/>
              <a:ext cx="2792185" cy="734104"/>
            </a:xfrm>
            <a:prstGeom prst="rect">
              <a:avLst/>
            </a:prstGeom>
          </p:spPr>
        </p:pic>
        <p:pic>
          <p:nvPicPr>
            <p:cNvPr id="31" name="Picture 30"/>
            <p:cNvPicPr>
              <a:picLocks noChangeAspect="1"/>
            </p:cNvPicPr>
            <p:nvPr/>
          </p:nvPicPr>
          <p:blipFill>
            <a:blip r:embed="rId5"/>
            <a:stretch>
              <a:fillRect/>
            </a:stretch>
          </p:blipFill>
          <p:spPr>
            <a:xfrm>
              <a:off x="3720194" y="5331279"/>
              <a:ext cx="2792185" cy="734104"/>
            </a:xfrm>
            <a:prstGeom prst="rect">
              <a:avLst/>
            </a:prstGeom>
          </p:spPr>
        </p:pic>
        <p:pic>
          <p:nvPicPr>
            <p:cNvPr id="33" name="Picture 3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60310" y="3033030"/>
              <a:ext cx="1735592" cy="1053193"/>
            </a:xfrm>
            <a:prstGeom prst="rect">
              <a:avLst/>
            </a:prstGeom>
          </p:spPr>
        </p:pic>
        <p:sp>
          <p:nvSpPr>
            <p:cNvPr id="20" name="TextBox 19"/>
            <p:cNvSpPr txBox="1"/>
            <p:nvPr/>
          </p:nvSpPr>
          <p:spPr>
            <a:xfrm>
              <a:off x="1151164" y="4865913"/>
              <a:ext cx="5119007" cy="367393"/>
            </a:xfrm>
            <a:prstGeom prst="rect">
              <a:avLst/>
            </a:prstGeom>
            <a:pattFill prst="lgCheck">
              <a:fgClr>
                <a:schemeClr val="accent4">
                  <a:lumMod val="20000"/>
                  <a:lumOff val="80000"/>
                </a:schemeClr>
              </a:fgClr>
              <a:bgClr>
                <a:schemeClr val="bg1"/>
              </a:bgClr>
            </a:pattFill>
            <a:ln>
              <a:solidFill>
                <a:schemeClr val="tx1"/>
              </a:solidFill>
            </a:ln>
          </p:spPr>
          <p:txBody>
            <a:bodyPr wrap="square" rtlCol="0">
              <a:spAutoFit/>
            </a:bodyPr>
            <a:lstStyle/>
            <a:p>
              <a:pPr algn="ctr"/>
              <a:r>
                <a:rPr lang="en-US" dirty="0" smtClean="0"/>
                <a:t>IT Service Portal </a:t>
              </a:r>
              <a:endParaRPr lang="en-IN" dirty="0"/>
            </a:p>
          </p:txBody>
        </p:sp>
        <p:cxnSp>
          <p:nvCxnSpPr>
            <p:cNvPr id="22" name="Straight Arrow Connector 21"/>
            <p:cNvCxnSpPr/>
            <p:nvPr/>
          </p:nvCxnSpPr>
          <p:spPr>
            <a:xfrm flipV="1">
              <a:off x="2041073" y="4078059"/>
              <a:ext cx="0" cy="7878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2495552" y="4067176"/>
              <a:ext cx="0" cy="7878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2982684" y="4072621"/>
              <a:ext cx="0" cy="7878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flipV="1">
              <a:off x="3469818" y="4069898"/>
              <a:ext cx="0" cy="7878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V="1">
              <a:off x="3932466" y="4075344"/>
              <a:ext cx="0" cy="7878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V="1">
              <a:off x="4452257" y="4086223"/>
              <a:ext cx="0" cy="7878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flipV="1">
              <a:off x="4955722" y="4059012"/>
              <a:ext cx="0" cy="7878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H="1" flipV="1">
              <a:off x="1371600" y="2196611"/>
              <a:ext cx="8164" cy="2650255"/>
            </a:xfrm>
            <a:prstGeom prst="straightConnector1">
              <a:avLst/>
            </a:prstGeom>
            <a:ln w="127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H="1" flipV="1">
              <a:off x="1679121" y="2193891"/>
              <a:ext cx="8164" cy="2650255"/>
            </a:xfrm>
            <a:prstGeom prst="straightConnector1">
              <a:avLst/>
            </a:prstGeom>
            <a:ln w="127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H="1" flipV="1">
              <a:off x="5456471" y="2174845"/>
              <a:ext cx="8164" cy="2650255"/>
            </a:xfrm>
            <a:prstGeom prst="straightConnector1">
              <a:avLst/>
            </a:prstGeom>
            <a:ln w="127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flipH="1" flipV="1">
              <a:off x="5772155" y="2172124"/>
              <a:ext cx="8164" cy="2650255"/>
            </a:xfrm>
            <a:prstGeom prst="straightConnector1">
              <a:avLst/>
            </a:prstGeom>
            <a:ln w="127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V="1">
              <a:off x="2528208" y="2172124"/>
              <a:ext cx="0" cy="856826"/>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flipV="1">
              <a:off x="2982687" y="2144910"/>
              <a:ext cx="0" cy="856826"/>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flipV="1">
              <a:off x="3829051" y="2158519"/>
              <a:ext cx="0" cy="856826"/>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4275367" y="2155799"/>
              <a:ext cx="0" cy="856826"/>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flipV="1">
              <a:off x="2109112" y="2161238"/>
              <a:ext cx="0" cy="856826"/>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flipV="1">
              <a:off x="4860473" y="2153077"/>
              <a:ext cx="0" cy="856826"/>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a:off x="3208564" y="1796352"/>
              <a:ext cx="587829" cy="0"/>
            </a:xfrm>
            <a:prstGeom prst="straightConnector1">
              <a:avLst/>
            </a:prstGeom>
            <a:ln w="25400">
              <a:solidFill>
                <a:srgbClr val="00206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2277829" y="6098726"/>
              <a:ext cx="3298371" cy="307777"/>
            </a:xfrm>
            <a:prstGeom prst="rect">
              <a:avLst/>
            </a:prstGeom>
            <a:solidFill>
              <a:schemeClr val="bg1"/>
            </a:solidFill>
          </p:spPr>
          <p:txBody>
            <a:bodyPr wrap="square" rtlCol="0">
              <a:spAutoFit/>
            </a:bodyPr>
            <a:lstStyle/>
            <a:p>
              <a:r>
                <a:rPr lang="en-US" sz="1400" dirty="0" smtClean="0"/>
                <a:t>End Users/ Business User/Vendor/Supplier</a:t>
              </a:r>
              <a:endParaRPr lang="en-IN" sz="1400" dirty="0"/>
            </a:p>
          </p:txBody>
        </p:sp>
        <p:sp>
          <p:nvSpPr>
            <p:cNvPr id="67" name="TextBox 66"/>
            <p:cNvSpPr txBox="1"/>
            <p:nvPr/>
          </p:nvSpPr>
          <p:spPr>
            <a:xfrm>
              <a:off x="2740479" y="4330184"/>
              <a:ext cx="1415144" cy="307777"/>
            </a:xfrm>
            <a:prstGeom prst="rect">
              <a:avLst/>
            </a:prstGeom>
            <a:solidFill>
              <a:schemeClr val="bg1"/>
            </a:solidFill>
            <a:ln>
              <a:solidFill>
                <a:schemeClr val="tx1"/>
              </a:solidFill>
            </a:ln>
          </p:spPr>
          <p:txBody>
            <a:bodyPr wrap="square" rtlCol="0">
              <a:spAutoFit/>
            </a:bodyPr>
            <a:lstStyle/>
            <a:p>
              <a:r>
                <a:rPr lang="en-US" sz="1400" dirty="0" smtClean="0"/>
                <a:t>Support Tickets</a:t>
              </a:r>
              <a:endParaRPr lang="en-IN" sz="1400" dirty="0"/>
            </a:p>
          </p:txBody>
        </p:sp>
        <p:sp>
          <p:nvSpPr>
            <p:cNvPr id="68" name="TextBox 67"/>
            <p:cNvSpPr txBox="1"/>
            <p:nvPr/>
          </p:nvSpPr>
          <p:spPr>
            <a:xfrm rot="16200000">
              <a:off x="5585280" y="3326310"/>
              <a:ext cx="1521274" cy="523220"/>
            </a:xfrm>
            <a:prstGeom prst="rect">
              <a:avLst/>
            </a:prstGeom>
            <a:solidFill>
              <a:schemeClr val="bg1"/>
            </a:solidFill>
            <a:ln>
              <a:solidFill>
                <a:schemeClr val="tx1"/>
              </a:solidFill>
            </a:ln>
          </p:spPr>
          <p:txBody>
            <a:bodyPr wrap="square" rtlCol="0">
              <a:spAutoFit/>
            </a:bodyPr>
            <a:lstStyle/>
            <a:p>
              <a:pPr algn="ctr"/>
              <a:r>
                <a:rPr lang="en-US" sz="1400" dirty="0" smtClean="0"/>
                <a:t>Service Desk</a:t>
              </a:r>
            </a:p>
            <a:p>
              <a:pPr algn="ctr"/>
              <a:r>
                <a:rPr lang="en-US" sz="1400" dirty="0" smtClean="0"/>
                <a:t>(L1/L2 tickets)</a:t>
              </a:r>
              <a:endParaRPr lang="en-IN" sz="1400" dirty="0"/>
            </a:p>
          </p:txBody>
        </p:sp>
        <p:sp>
          <p:nvSpPr>
            <p:cNvPr id="69" name="TextBox 68"/>
            <p:cNvSpPr txBox="1"/>
            <p:nvPr/>
          </p:nvSpPr>
          <p:spPr>
            <a:xfrm>
              <a:off x="2760799" y="2501384"/>
              <a:ext cx="1415144" cy="307777"/>
            </a:xfrm>
            <a:prstGeom prst="rect">
              <a:avLst/>
            </a:prstGeom>
            <a:solidFill>
              <a:schemeClr val="bg1"/>
            </a:solidFill>
            <a:ln>
              <a:solidFill>
                <a:schemeClr val="tx1"/>
              </a:solidFill>
            </a:ln>
          </p:spPr>
          <p:txBody>
            <a:bodyPr wrap="square" rtlCol="0">
              <a:spAutoFit/>
            </a:bodyPr>
            <a:lstStyle/>
            <a:p>
              <a:pPr algn="ctr"/>
              <a:r>
                <a:rPr lang="en-US" sz="1400" b="1" dirty="0" smtClean="0">
                  <a:solidFill>
                    <a:srgbClr val="FF0000"/>
                  </a:solidFill>
                </a:rPr>
                <a:t>L3 Tickets</a:t>
              </a:r>
              <a:endParaRPr lang="en-IN" sz="1400" b="1" dirty="0">
                <a:solidFill>
                  <a:srgbClr val="FF0000"/>
                </a:solidFill>
              </a:endParaRPr>
            </a:p>
          </p:txBody>
        </p:sp>
        <p:sp>
          <p:nvSpPr>
            <p:cNvPr id="71" name="TextBox 70"/>
            <p:cNvSpPr txBox="1"/>
            <p:nvPr/>
          </p:nvSpPr>
          <p:spPr>
            <a:xfrm rot="16200000">
              <a:off x="653876" y="3354154"/>
              <a:ext cx="1415144" cy="307777"/>
            </a:xfrm>
            <a:prstGeom prst="rect">
              <a:avLst/>
            </a:prstGeom>
            <a:solidFill>
              <a:schemeClr val="bg1"/>
            </a:solidFill>
            <a:ln>
              <a:solidFill>
                <a:schemeClr val="tx1"/>
              </a:solidFill>
            </a:ln>
          </p:spPr>
          <p:txBody>
            <a:bodyPr wrap="square" rtlCol="0">
              <a:spAutoFit/>
            </a:bodyPr>
            <a:lstStyle/>
            <a:p>
              <a:pPr algn="ctr"/>
              <a:r>
                <a:rPr lang="en-US" sz="1400" b="1" dirty="0" smtClean="0">
                  <a:solidFill>
                    <a:srgbClr val="FF0000"/>
                  </a:solidFill>
                </a:rPr>
                <a:t>L3 Tickets</a:t>
              </a:r>
              <a:endParaRPr lang="en-IN" sz="1400" b="1" dirty="0">
                <a:solidFill>
                  <a:srgbClr val="FF0000"/>
                </a:solidFill>
              </a:endParaRPr>
            </a:p>
          </p:txBody>
        </p:sp>
        <p:sp>
          <p:nvSpPr>
            <p:cNvPr id="72" name="TextBox 71"/>
            <p:cNvSpPr txBox="1"/>
            <p:nvPr/>
          </p:nvSpPr>
          <p:spPr>
            <a:xfrm rot="16200000">
              <a:off x="4860117" y="3394794"/>
              <a:ext cx="1415144" cy="307777"/>
            </a:xfrm>
            <a:prstGeom prst="rect">
              <a:avLst/>
            </a:prstGeom>
            <a:solidFill>
              <a:schemeClr val="bg1"/>
            </a:solidFill>
            <a:ln>
              <a:solidFill>
                <a:schemeClr val="tx1"/>
              </a:solidFill>
            </a:ln>
          </p:spPr>
          <p:txBody>
            <a:bodyPr wrap="square" rtlCol="0">
              <a:spAutoFit/>
            </a:bodyPr>
            <a:lstStyle/>
            <a:p>
              <a:pPr algn="ctr"/>
              <a:r>
                <a:rPr lang="en-US" sz="1400" b="1" dirty="0" smtClean="0">
                  <a:solidFill>
                    <a:srgbClr val="FF0000"/>
                  </a:solidFill>
                </a:rPr>
                <a:t>L3 Tickets</a:t>
              </a:r>
              <a:endParaRPr lang="en-IN" sz="1400" b="1" dirty="0">
                <a:solidFill>
                  <a:srgbClr val="FF0000"/>
                </a:solidFill>
              </a:endParaRPr>
            </a:p>
          </p:txBody>
        </p:sp>
        <p:sp>
          <p:nvSpPr>
            <p:cNvPr id="73" name="TextBox 72"/>
            <p:cNvSpPr txBox="1"/>
            <p:nvPr/>
          </p:nvSpPr>
          <p:spPr>
            <a:xfrm>
              <a:off x="2181675" y="1063179"/>
              <a:ext cx="3091365" cy="307777"/>
            </a:xfrm>
            <a:prstGeom prst="rect">
              <a:avLst/>
            </a:prstGeom>
            <a:solidFill>
              <a:schemeClr val="bg1"/>
            </a:solidFill>
            <a:ln>
              <a:solidFill>
                <a:schemeClr val="tx1"/>
              </a:solidFill>
            </a:ln>
          </p:spPr>
          <p:txBody>
            <a:bodyPr wrap="square" rtlCol="0">
              <a:spAutoFit/>
            </a:bodyPr>
            <a:lstStyle/>
            <a:p>
              <a:r>
                <a:rPr lang="en-US" sz="1400" dirty="0" smtClean="0"/>
                <a:t>IT / Functional Expert Groups/ Vendors </a:t>
              </a:r>
              <a:endParaRPr lang="en-IN" sz="1400" dirty="0"/>
            </a:p>
          </p:txBody>
        </p:sp>
      </p:grpSp>
      <p:sp>
        <p:nvSpPr>
          <p:cNvPr id="74" name="TextBox 73"/>
          <p:cNvSpPr txBox="1"/>
          <p:nvPr/>
        </p:nvSpPr>
        <p:spPr>
          <a:xfrm>
            <a:off x="6846751" y="975359"/>
            <a:ext cx="4918529" cy="5431143"/>
          </a:xfrm>
          <a:prstGeom prst="rect">
            <a:avLst/>
          </a:prstGeom>
          <a:solidFill>
            <a:srgbClr val="002060"/>
          </a:solidFill>
          <a:ln>
            <a:solidFill>
              <a:schemeClr val="tx1"/>
            </a:solidFill>
          </a:ln>
        </p:spPr>
        <p:txBody>
          <a:bodyPr wrap="square" rtlCol="0">
            <a:noAutofit/>
          </a:bodyPr>
          <a:lstStyle/>
          <a:p>
            <a:r>
              <a:rPr lang="en-US" b="1" u="sng" dirty="0">
                <a:solidFill>
                  <a:schemeClr val="bg1"/>
                </a:solidFill>
              </a:rPr>
              <a:t>Volumes being </a:t>
            </a:r>
            <a:r>
              <a:rPr lang="en-US" b="1" u="sng" dirty="0" smtClean="0">
                <a:solidFill>
                  <a:schemeClr val="bg1"/>
                </a:solidFill>
              </a:rPr>
              <a:t>Handled :</a:t>
            </a:r>
          </a:p>
          <a:p>
            <a:pPr marL="285750" indent="-285750">
              <a:buFont typeface="Arial" panose="020B0604020202020204" pitchFamily="34" charset="0"/>
              <a:buChar char="•"/>
            </a:pPr>
            <a:r>
              <a:rPr lang="en-US" dirty="0" smtClean="0">
                <a:solidFill>
                  <a:schemeClr val="bg1"/>
                </a:solidFill>
              </a:rPr>
              <a:t>~ </a:t>
            </a:r>
            <a:r>
              <a:rPr lang="en-US" dirty="0">
                <a:solidFill>
                  <a:schemeClr val="bg1"/>
                </a:solidFill>
              </a:rPr>
              <a:t>54% of L1/L2 tickets are handled and resolved by Service Desk</a:t>
            </a:r>
          </a:p>
          <a:p>
            <a:pPr marL="285750" indent="-285750">
              <a:buFont typeface="Arial" panose="020B0604020202020204" pitchFamily="34" charset="0"/>
              <a:buChar char="•"/>
            </a:pPr>
            <a:r>
              <a:rPr lang="en-US" dirty="0">
                <a:solidFill>
                  <a:schemeClr val="bg1"/>
                </a:solidFill>
              </a:rPr>
              <a:t>~56% of L3 tickets are handled and resolved by Functional/ IT Experts/ Vendors (as per requirements</a:t>
            </a:r>
            <a:r>
              <a:rPr lang="en-US" dirty="0" smtClean="0">
                <a:solidFill>
                  <a:schemeClr val="bg1"/>
                </a:solidFill>
              </a:rPr>
              <a:t>)</a:t>
            </a:r>
          </a:p>
          <a:p>
            <a:pPr marL="285750" indent="-285750">
              <a:buFont typeface="Arial" panose="020B0604020202020204" pitchFamily="34" charset="0"/>
              <a:buChar char="•"/>
            </a:pPr>
            <a:endParaRPr lang="en-US" dirty="0">
              <a:solidFill>
                <a:schemeClr val="bg1"/>
              </a:solidFill>
            </a:endParaRPr>
          </a:p>
          <a:p>
            <a:r>
              <a:rPr lang="en-US" b="1" u="sng" dirty="0">
                <a:solidFill>
                  <a:schemeClr val="bg1"/>
                </a:solidFill>
              </a:rPr>
              <a:t>Time Spent</a:t>
            </a:r>
            <a:r>
              <a:rPr lang="en-US" b="1" u="sng" dirty="0" smtClean="0">
                <a:solidFill>
                  <a:schemeClr val="bg1"/>
                </a:solidFill>
              </a:rPr>
              <a:t>:</a:t>
            </a:r>
          </a:p>
          <a:p>
            <a:pPr marL="285750" indent="-285750">
              <a:buFont typeface="Arial" panose="020B0604020202020204" pitchFamily="34" charset="0"/>
              <a:buChar char="•"/>
            </a:pPr>
            <a:r>
              <a:rPr lang="en-US" dirty="0" smtClean="0">
                <a:solidFill>
                  <a:schemeClr val="bg1"/>
                </a:solidFill>
              </a:rPr>
              <a:t>15 </a:t>
            </a:r>
            <a:r>
              <a:rPr lang="en-US" dirty="0">
                <a:solidFill>
                  <a:schemeClr val="bg1"/>
                </a:solidFill>
              </a:rPr>
              <a:t>min is being spent for SOP review for each incident</a:t>
            </a:r>
          </a:p>
          <a:p>
            <a:pPr marL="285750" indent="-285750">
              <a:buFont typeface="Arial" panose="020B0604020202020204" pitchFamily="34" charset="0"/>
              <a:buChar char="•"/>
            </a:pPr>
            <a:r>
              <a:rPr lang="en-US" dirty="0">
                <a:solidFill>
                  <a:schemeClr val="bg1"/>
                </a:solidFill>
              </a:rPr>
              <a:t>Minimum ~25-30% of incidents needs to be reviewed for SOPs before ticket assignment</a:t>
            </a:r>
          </a:p>
          <a:p>
            <a:pPr marL="285750" indent="-285750">
              <a:buFont typeface="Arial" panose="020B0604020202020204" pitchFamily="34" charset="0"/>
              <a:buChar char="•"/>
            </a:pPr>
            <a:r>
              <a:rPr lang="en-US" dirty="0">
                <a:solidFill>
                  <a:schemeClr val="bg1"/>
                </a:solidFill>
              </a:rPr>
              <a:t> Minimum of ~1 FTE effort needed “only “for incident assignment to L3 teams</a:t>
            </a:r>
            <a:r>
              <a:rPr lang="en-US" dirty="0" smtClean="0">
                <a:solidFill>
                  <a:schemeClr val="bg1"/>
                </a:solidFill>
              </a:rPr>
              <a:t>.</a:t>
            </a:r>
          </a:p>
          <a:p>
            <a:r>
              <a:rPr lang="en-US" dirty="0" smtClean="0">
                <a:solidFill>
                  <a:schemeClr val="bg1"/>
                </a:solidFill>
              </a:rPr>
              <a:t> </a:t>
            </a:r>
            <a:endParaRPr lang="en-US" dirty="0">
              <a:solidFill>
                <a:schemeClr val="bg1"/>
              </a:solidFill>
            </a:endParaRPr>
          </a:p>
          <a:p>
            <a:r>
              <a:rPr lang="en-US" b="1" u="sng" dirty="0">
                <a:solidFill>
                  <a:schemeClr val="bg1"/>
                </a:solidFill>
              </a:rPr>
              <a:t>Others</a:t>
            </a:r>
            <a:r>
              <a:rPr lang="en-US" b="1" u="sng" dirty="0" smtClean="0">
                <a:solidFill>
                  <a:schemeClr val="bg1"/>
                </a:solidFill>
              </a:rPr>
              <a:t>:</a:t>
            </a:r>
          </a:p>
          <a:p>
            <a:pPr marL="285750" indent="-285750">
              <a:buFont typeface="Arial" panose="020B0604020202020204" pitchFamily="34" charset="0"/>
              <a:buChar char="•"/>
            </a:pPr>
            <a:r>
              <a:rPr lang="en-US" dirty="0" smtClean="0">
                <a:solidFill>
                  <a:schemeClr val="bg1"/>
                </a:solidFill>
              </a:rPr>
              <a:t> </a:t>
            </a:r>
            <a:r>
              <a:rPr lang="en-US" dirty="0">
                <a:solidFill>
                  <a:schemeClr val="bg1"/>
                </a:solidFill>
              </a:rPr>
              <a:t>Around ~25% of Incidents are wrongly assigned to functional teams</a:t>
            </a:r>
          </a:p>
          <a:p>
            <a:endParaRPr lang="en-US" b="1" u="sng" dirty="0" smtClean="0">
              <a:solidFill>
                <a:schemeClr val="bg1"/>
              </a:solidFill>
            </a:endParaRPr>
          </a:p>
        </p:txBody>
      </p:sp>
    </p:spTree>
    <p:extLst>
      <p:ext uri="{BB962C8B-B14F-4D97-AF65-F5344CB8AC3E}">
        <p14:creationId xmlns:p14="http://schemas.microsoft.com/office/powerpoint/2010/main" val="40652058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05053" y="-18212"/>
            <a:ext cx="10606541" cy="767443"/>
          </a:xfrm>
        </p:spPr>
        <p:txBody>
          <a:bodyPr>
            <a:normAutofit/>
          </a:bodyPr>
          <a:lstStyle/>
          <a:p>
            <a:r>
              <a:rPr lang="en-US" dirty="0" smtClean="0"/>
              <a:t>Current </a:t>
            </a:r>
            <a:r>
              <a:rPr lang="en-US" dirty="0"/>
              <a:t>IT Support </a:t>
            </a:r>
            <a:r>
              <a:rPr lang="en-US" dirty="0" smtClean="0"/>
              <a:t>Process: Problem Areas  </a:t>
            </a:r>
            <a:endParaRPr lang="en-IN" dirty="0"/>
          </a:p>
        </p:txBody>
      </p:sp>
      <p:cxnSp>
        <p:nvCxnSpPr>
          <p:cNvPr id="34" name="Straight Arrow Connector 33"/>
          <p:cNvCxnSpPr/>
          <p:nvPr/>
        </p:nvCxnSpPr>
        <p:spPr>
          <a:xfrm>
            <a:off x="424543" y="-506186"/>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519432" y="1387928"/>
            <a:ext cx="3938270" cy="4261758"/>
          </a:xfrm>
          <a:prstGeom prst="rect">
            <a:avLst/>
          </a:prstGeom>
          <a:solidFill>
            <a:srgbClr val="002060"/>
          </a:solidFill>
          <a:ln>
            <a:solidFill>
              <a:schemeClr val="tx1"/>
            </a:solidFill>
          </a:ln>
        </p:spPr>
        <p:txBody>
          <a:bodyPr wrap="square" rtlCol="0">
            <a:noAutofit/>
          </a:bodyPr>
          <a:lstStyle/>
          <a:p>
            <a:r>
              <a:rPr lang="en-US" sz="1400" b="1" u="sng" dirty="0">
                <a:solidFill>
                  <a:schemeClr val="bg1"/>
                </a:solidFill>
              </a:rPr>
              <a:t>Volumes being </a:t>
            </a:r>
            <a:r>
              <a:rPr lang="en-US" sz="1400" b="1" u="sng" dirty="0" smtClean="0">
                <a:solidFill>
                  <a:schemeClr val="bg1"/>
                </a:solidFill>
              </a:rPr>
              <a:t>Handled :</a:t>
            </a:r>
          </a:p>
          <a:p>
            <a:pPr marL="285750" indent="-285750">
              <a:buFont typeface="Arial" panose="020B0604020202020204" pitchFamily="34" charset="0"/>
              <a:buChar char="•"/>
            </a:pPr>
            <a:r>
              <a:rPr lang="en-US" sz="1400" dirty="0" smtClean="0">
                <a:solidFill>
                  <a:schemeClr val="bg1"/>
                </a:solidFill>
              </a:rPr>
              <a:t>~ </a:t>
            </a:r>
            <a:r>
              <a:rPr lang="en-US" sz="1400" dirty="0">
                <a:solidFill>
                  <a:schemeClr val="bg1"/>
                </a:solidFill>
              </a:rPr>
              <a:t>54% of L1/L2 tickets are handled and resolved by Service Desk</a:t>
            </a:r>
          </a:p>
          <a:p>
            <a:pPr marL="285750" indent="-285750">
              <a:buFont typeface="Arial" panose="020B0604020202020204" pitchFamily="34" charset="0"/>
              <a:buChar char="•"/>
            </a:pPr>
            <a:r>
              <a:rPr lang="en-US" sz="1400" dirty="0">
                <a:solidFill>
                  <a:schemeClr val="bg1"/>
                </a:solidFill>
              </a:rPr>
              <a:t>~56% of L3 tickets are handled and resolved by Functional/ IT Experts/ Vendors (as per requirements</a:t>
            </a:r>
            <a:r>
              <a:rPr lang="en-US" sz="1400" dirty="0" smtClean="0">
                <a:solidFill>
                  <a:schemeClr val="bg1"/>
                </a:solidFill>
              </a:rPr>
              <a:t>)</a:t>
            </a:r>
          </a:p>
          <a:p>
            <a:pPr marL="285750" indent="-285750">
              <a:buFont typeface="Arial" panose="020B0604020202020204" pitchFamily="34" charset="0"/>
              <a:buChar char="•"/>
            </a:pPr>
            <a:endParaRPr lang="en-US" sz="1400" dirty="0">
              <a:solidFill>
                <a:schemeClr val="bg1"/>
              </a:solidFill>
            </a:endParaRPr>
          </a:p>
          <a:p>
            <a:r>
              <a:rPr lang="en-US" sz="1400" b="1" u="sng" dirty="0">
                <a:solidFill>
                  <a:schemeClr val="bg1"/>
                </a:solidFill>
              </a:rPr>
              <a:t>Time Spent</a:t>
            </a:r>
            <a:r>
              <a:rPr lang="en-US" sz="1400" b="1" u="sng" dirty="0" smtClean="0">
                <a:solidFill>
                  <a:schemeClr val="bg1"/>
                </a:solidFill>
              </a:rPr>
              <a:t>:</a:t>
            </a:r>
          </a:p>
          <a:p>
            <a:pPr marL="285750" indent="-285750">
              <a:buFont typeface="Arial" panose="020B0604020202020204" pitchFamily="34" charset="0"/>
              <a:buChar char="•"/>
            </a:pPr>
            <a:r>
              <a:rPr lang="en-US" sz="1400" dirty="0" smtClean="0">
                <a:solidFill>
                  <a:schemeClr val="bg1"/>
                </a:solidFill>
              </a:rPr>
              <a:t>15 </a:t>
            </a:r>
            <a:r>
              <a:rPr lang="en-US" sz="1400" dirty="0">
                <a:solidFill>
                  <a:schemeClr val="bg1"/>
                </a:solidFill>
              </a:rPr>
              <a:t>min is being spent for SOP review for each incident</a:t>
            </a:r>
          </a:p>
          <a:p>
            <a:pPr marL="285750" indent="-285750">
              <a:buFont typeface="Arial" panose="020B0604020202020204" pitchFamily="34" charset="0"/>
              <a:buChar char="•"/>
            </a:pPr>
            <a:r>
              <a:rPr lang="en-US" sz="1400" dirty="0">
                <a:solidFill>
                  <a:schemeClr val="bg1"/>
                </a:solidFill>
              </a:rPr>
              <a:t>Minimum ~25-30% of incidents needs to be reviewed for SOPs before ticket assignment</a:t>
            </a:r>
          </a:p>
          <a:p>
            <a:pPr marL="285750" indent="-285750">
              <a:buFont typeface="Arial" panose="020B0604020202020204" pitchFamily="34" charset="0"/>
              <a:buChar char="•"/>
            </a:pPr>
            <a:r>
              <a:rPr lang="en-US" sz="1400" dirty="0">
                <a:solidFill>
                  <a:schemeClr val="bg1"/>
                </a:solidFill>
              </a:rPr>
              <a:t> Minimum of ~1 FTE effort needed “only “for incident assignment to L3 teams</a:t>
            </a:r>
            <a:r>
              <a:rPr lang="en-US" sz="1400" dirty="0" smtClean="0">
                <a:solidFill>
                  <a:schemeClr val="bg1"/>
                </a:solidFill>
              </a:rPr>
              <a:t>.</a:t>
            </a:r>
          </a:p>
          <a:p>
            <a:r>
              <a:rPr lang="en-US" sz="1400" dirty="0" smtClean="0">
                <a:solidFill>
                  <a:schemeClr val="bg1"/>
                </a:solidFill>
              </a:rPr>
              <a:t> </a:t>
            </a:r>
            <a:endParaRPr lang="en-US" sz="1400" dirty="0">
              <a:solidFill>
                <a:schemeClr val="bg1"/>
              </a:solidFill>
            </a:endParaRPr>
          </a:p>
          <a:p>
            <a:r>
              <a:rPr lang="en-US" sz="1400" b="1" u="sng" dirty="0">
                <a:solidFill>
                  <a:schemeClr val="bg1"/>
                </a:solidFill>
              </a:rPr>
              <a:t>Others</a:t>
            </a:r>
            <a:r>
              <a:rPr lang="en-US" sz="1400" b="1" u="sng" dirty="0" smtClean="0">
                <a:solidFill>
                  <a:schemeClr val="bg1"/>
                </a:solidFill>
              </a:rPr>
              <a:t>:</a:t>
            </a:r>
          </a:p>
          <a:p>
            <a:pPr marL="285750" indent="-285750">
              <a:buFont typeface="Arial" panose="020B0604020202020204" pitchFamily="34" charset="0"/>
              <a:buChar char="•"/>
            </a:pPr>
            <a:r>
              <a:rPr lang="en-US" sz="1400" dirty="0" smtClean="0">
                <a:solidFill>
                  <a:schemeClr val="bg1"/>
                </a:solidFill>
              </a:rPr>
              <a:t> </a:t>
            </a:r>
            <a:r>
              <a:rPr lang="en-US" sz="1400" dirty="0">
                <a:solidFill>
                  <a:schemeClr val="bg1"/>
                </a:solidFill>
              </a:rPr>
              <a:t>Around ~25% of Incidents are wrongly assigned to functional teams</a:t>
            </a:r>
          </a:p>
          <a:p>
            <a:endParaRPr lang="en-US" b="1" u="sng" dirty="0" smtClean="0">
              <a:solidFill>
                <a:schemeClr val="bg1"/>
              </a:solidFill>
            </a:endParaRPr>
          </a:p>
        </p:txBody>
      </p:sp>
      <p:sp>
        <p:nvSpPr>
          <p:cNvPr id="44" name="TextBox 43"/>
          <p:cNvSpPr txBox="1"/>
          <p:nvPr/>
        </p:nvSpPr>
        <p:spPr>
          <a:xfrm>
            <a:off x="8380079" y="1650857"/>
            <a:ext cx="3303014" cy="3970318"/>
          </a:xfrm>
          <a:prstGeom prst="rect">
            <a:avLst/>
          </a:prstGeom>
          <a:solidFill>
            <a:srgbClr val="FF0000"/>
          </a:solidFill>
          <a:ln>
            <a:solidFill>
              <a:schemeClr val="tx1"/>
            </a:solidFill>
          </a:ln>
        </p:spPr>
        <p:txBody>
          <a:bodyPr wrap="square" rtlCol="0">
            <a:spAutoFit/>
          </a:bodyPr>
          <a:lstStyle/>
          <a:p>
            <a:pPr marL="285750" indent="-285750">
              <a:buFont typeface="Arial" panose="020B0604020202020204" pitchFamily="34" charset="0"/>
              <a:buChar char="•"/>
            </a:pPr>
            <a:r>
              <a:rPr lang="en-US" dirty="0" smtClean="0">
                <a:solidFill>
                  <a:schemeClr val="bg1"/>
                </a:solidFill>
              </a:rPr>
              <a:t>Delay in ticket resolution impacting the business</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smtClean="0">
                <a:solidFill>
                  <a:schemeClr val="bg1"/>
                </a:solidFill>
              </a:rPr>
              <a:t>Additional FTEs required for L1/L2 support and correct assignment of tickets</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smtClean="0">
                <a:solidFill>
                  <a:schemeClr val="bg1"/>
                </a:solidFill>
              </a:rPr>
              <a:t>User dissatisfaction  </a:t>
            </a:r>
          </a:p>
          <a:p>
            <a:pPr marL="285750" indent="-285750">
              <a:buFont typeface="Arial" panose="020B0604020202020204" pitchFamily="34" charset="0"/>
              <a:buChar char="•"/>
            </a:pPr>
            <a:endParaRPr lang="en-US" dirty="0">
              <a:solidFill>
                <a:schemeClr val="bg1"/>
              </a:solidFill>
            </a:endParaRPr>
          </a:p>
          <a:p>
            <a:pPr marL="285750" indent="-285750">
              <a:buFont typeface="Arial" panose="020B0604020202020204" pitchFamily="34" charset="0"/>
              <a:buChar char="•"/>
            </a:pPr>
            <a:r>
              <a:rPr lang="en-US" dirty="0" smtClean="0">
                <a:solidFill>
                  <a:schemeClr val="bg1"/>
                </a:solidFill>
              </a:rPr>
              <a:t>Under-utilization of resources because of non-value added activities</a:t>
            </a:r>
          </a:p>
          <a:p>
            <a:endParaRPr lang="en-US" dirty="0">
              <a:solidFill>
                <a:schemeClr val="bg1"/>
              </a:solidFill>
            </a:endParaRPr>
          </a:p>
          <a:p>
            <a:endParaRPr lang="en-IN" dirty="0">
              <a:solidFill>
                <a:schemeClr val="bg1"/>
              </a:solidFill>
            </a:endParaRPr>
          </a:p>
        </p:txBody>
      </p:sp>
      <p:pic>
        <p:nvPicPr>
          <p:cNvPr id="1028" name="Picture 4" descr="Problem statements — How to make sure you are fixing the right probl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47607" y="2647269"/>
            <a:ext cx="2103666" cy="1743076"/>
          </a:xfrm>
          <a:prstGeom prst="rect">
            <a:avLst/>
          </a:prstGeom>
          <a:noFill/>
          <a:extLst>
            <a:ext uri="{909E8E84-426E-40DD-AFC4-6F175D3DCCD1}">
              <a14:hiddenFill xmlns:a14="http://schemas.microsoft.com/office/drawing/2010/main">
                <a:solidFill>
                  <a:srgbClr val="FFFFFF"/>
                </a:solidFill>
              </a14:hiddenFill>
            </a:ext>
          </a:extLst>
        </p:spPr>
      </p:pic>
      <p:sp>
        <p:nvSpPr>
          <p:cNvPr id="8" name="Right Arrow 7"/>
          <p:cNvSpPr/>
          <p:nvPr/>
        </p:nvSpPr>
        <p:spPr>
          <a:xfrm>
            <a:off x="4457702" y="3331029"/>
            <a:ext cx="947055"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Right Arrow 50"/>
          <p:cNvSpPr/>
          <p:nvPr/>
        </p:nvSpPr>
        <p:spPr>
          <a:xfrm>
            <a:off x="7451273" y="3222173"/>
            <a:ext cx="947055"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10839854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Rectangle 64"/>
          <p:cNvSpPr/>
          <p:nvPr/>
        </p:nvSpPr>
        <p:spPr>
          <a:xfrm>
            <a:off x="858841" y="975360"/>
            <a:ext cx="5887583" cy="1672591"/>
          </a:xfrm>
          <a:prstGeom prst="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4" name="Rectangle 63"/>
          <p:cNvSpPr/>
          <p:nvPr/>
        </p:nvSpPr>
        <p:spPr>
          <a:xfrm>
            <a:off x="837069" y="2658834"/>
            <a:ext cx="5887583" cy="1877786"/>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3" name="Rectangle 62"/>
          <p:cNvSpPr/>
          <p:nvPr/>
        </p:nvSpPr>
        <p:spPr>
          <a:xfrm>
            <a:off x="839788" y="4555671"/>
            <a:ext cx="5887583" cy="187778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4" name="Title 3"/>
          <p:cNvSpPr>
            <a:spLocks noGrp="1"/>
          </p:cNvSpPr>
          <p:nvPr>
            <p:ph type="title"/>
          </p:nvPr>
        </p:nvSpPr>
        <p:spPr>
          <a:xfrm>
            <a:off x="505053" y="-18212"/>
            <a:ext cx="10606541" cy="767443"/>
          </a:xfrm>
        </p:spPr>
        <p:txBody>
          <a:bodyPr/>
          <a:lstStyle/>
          <a:p>
            <a:r>
              <a:rPr lang="en-US" b="1" i="1" dirty="0" smtClean="0"/>
              <a:t>Objective : Proposed IT Support Process Setup </a:t>
            </a:r>
            <a:endParaRPr lang="en-IN" b="1" i="1" dirty="0"/>
          </a:p>
        </p:txBody>
      </p:sp>
      <p:pic>
        <p:nvPicPr>
          <p:cNvPr id="9" name="Picture 8"/>
          <p:cNvPicPr>
            <a:picLocks noChangeAspect="1"/>
          </p:cNvPicPr>
          <p:nvPr/>
        </p:nvPicPr>
        <p:blipFill>
          <a:blip r:embed="rId2"/>
          <a:stretch>
            <a:fillRect/>
          </a:stretch>
        </p:blipFill>
        <p:spPr>
          <a:xfrm>
            <a:off x="909638" y="1396093"/>
            <a:ext cx="2543854" cy="800518"/>
          </a:xfrm>
          <a:prstGeom prst="rect">
            <a:avLst/>
          </a:prstGeom>
        </p:spPr>
      </p:pic>
      <p:pic>
        <p:nvPicPr>
          <p:cNvPr id="13" name="Picture 12"/>
          <p:cNvPicPr>
            <a:picLocks noChangeAspect="1"/>
          </p:cNvPicPr>
          <p:nvPr/>
        </p:nvPicPr>
        <p:blipFill>
          <a:blip r:embed="rId3"/>
          <a:stretch>
            <a:fillRect/>
          </a:stretch>
        </p:blipFill>
        <p:spPr>
          <a:xfrm>
            <a:off x="3624945" y="1412421"/>
            <a:ext cx="2473776" cy="783772"/>
          </a:xfrm>
          <a:prstGeom prst="rect">
            <a:avLst/>
          </a:prstGeom>
        </p:spPr>
      </p:pic>
      <p:pic>
        <p:nvPicPr>
          <p:cNvPr id="19" name="Picture 18"/>
          <p:cNvPicPr>
            <a:picLocks noChangeAspect="1"/>
          </p:cNvPicPr>
          <p:nvPr/>
        </p:nvPicPr>
        <p:blipFill>
          <a:blip r:embed="rId4"/>
          <a:stretch>
            <a:fillRect/>
          </a:stretch>
        </p:blipFill>
        <p:spPr>
          <a:xfrm>
            <a:off x="1004208" y="5331279"/>
            <a:ext cx="2792185" cy="734104"/>
          </a:xfrm>
          <a:prstGeom prst="rect">
            <a:avLst/>
          </a:prstGeom>
        </p:spPr>
      </p:pic>
      <p:pic>
        <p:nvPicPr>
          <p:cNvPr id="31" name="Picture 30"/>
          <p:cNvPicPr>
            <a:picLocks noChangeAspect="1"/>
          </p:cNvPicPr>
          <p:nvPr/>
        </p:nvPicPr>
        <p:blipFill>
          <a:blip r:embed="rId4"/>
          <a:stretch>
            <a:fillRect/>
          </a:stretch>
        </p:blipFill>
        <p:spPr>
          <a:xfrm>
            <a:off x="3720194" y="5331279"/>
            <a:ext cx="2792185" cy="734104"/>
          </a:xfrm>
          <a:prstGeom prst="rect">
            <a:avLst/>
          </a:prstGeom>
        </p:spPr>
      </p:pic>
      <p:sp>
        <p:nvSpPr>
          <p:cNvPr id="20" name="TextBox 19"/>
          <p:cNvSpPr txBox="1"/>
          <p:nvPr/>
        </p:nvSpPr>
        <p:spPr>
          <a:xfrm>
            <a:off x="1151164" y="4865913"/>
            <a:ext cx="5119007" cy="367393"/>
          </a:xfrm>
          <a:prstGeom prst="rect">
            <a:avLst/>
          </a:prstGeom>
          <a:pattFill prst="lgCheck">
            <a:fgClr>
              <a:schemeClr val="accent4">
                <a:lumMod val="20000"/>
                <a:lumOff val="80000"/>
              </a:schemeClr>
            </a:fgClr>
            <a:bgClr>
              <a:schemeClr val="bg1"/>
            </a:bgClr>
          </a:pattFill>
          <a:ln>
            <a:solidFill>
              <a:schemeClr val="tx1"/>
            </a:solidFill>
          </a:ln>
        </p:spPr>
        <p:txBody>
          <a:bodyPr wrap="square" rtlCol="0">
            <a:spAutoFit/>
          </a:bodyPr>
          <a:lstStyle/>
          <a:p>
            <a:pPr algn="ctr"/>
            <a:r>
              <a:rPr lang="en-US" dirty="0" smtClean="0"/>
              <a:t>IT Service Portal </a:t>
            </a:r>
            <a:endParaRPr lang="en-IN" dirty="0"/>
          </a:p>
        </p:txBody>
      </p:sp>
      <p:cxnSp>
        <p:nvCxnSpPr>
          <p:cNvPr id="22" name="Straight Arrow Connector 21"/>
          <p:cNvCxnSpPr/>
          <p:nvPr/>
        </p:nvCxnSpPr>
        <p:spPr>
          <a:xfrm flipV="1">
            <a:off x="2041073" y="4078059"/>
            <a:ext cx="0" cy="7878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2495552" y="4067176"/>
            <a:ext cx="0" cy="7878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2982684" y="4072621"/>
            <a:ext cx="0" cy="7878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p:cNvCxnSpPr/>
          <p:nvPr/>
        </p:nvCxnSpPr>
        <p:spPr>
          <a:xfrm flipV="1">
            <a:off x="3469818" y="4069898"/>
            <a:ext cx="0" cy="7878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flipV="1">
            <a:off x="3932466" y="4075344"/>
            <a:ext cx="0" cy="7878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flipV="1">
            <a:off x="4452257" y="4086223"/>
            <a:ext cx="0" cy="7878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flipV="1">
            <a:off x="4955722" y="4059012"/>
            <a:ext cx="0" cy="78785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H="1" flipV="1">
            <a:off x="1371600" y="2196611"/>
            <a:ext cx="8164" cy="2650255"/>
          </a:xfrm>
          <a:prstGeom prst="straightConnector1">
            <a:avLst/>
          </a:prstGeom>
          <a:ln w="127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p:nvPr/>
        </p:nvCxnSpPr>
        <p:spPr>
          <a:xfrm flipH="1" flipV="1">
            <a:off x="1679121" y="2193891"/>
            <a:ext cx="8164" cy="2650255"/>
          </a:xfrm>
          <a:prstGeom prst="straightConnector1">
            <a:avLst/>
          </a:prstGeom>
          <a:ln w="127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flipH="1" flipV="1">
            <a:off x="5456471" y="2174845"/>
            <a:ext cx="8164" cy="2650255"/>
          </a:xfrm>
          <a:prstGeom prst="straightConnector1">
            <a:avLst/>
          </a:prstGeom>
          <a:ln w="127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flipH="1" flipV="1">
            <a:off x="5772155" y="2172124"/>
            <a:ext cx="8164" cy="2650255"/>
          </a:xfrm>
          <a:prstGeom prst="straightConnector1">
            <a:avLst/>
          </a:prstGeom>
          <a:ln w="127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a:off x="424543" y="-506186"/>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flipV="1">
            <a:off x="2528208" y="2172124"/>
            <a:ext cx="0" cy="856826"/>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p:cNvCxnSpPr/>
          <p:nvPr/>
        </p:nvCxnSpPr>
        <p:spPr>
          <a:xfrm flipV="1">
            <a:off x="2982687" y="2144910"/>
            <a:ext cx="0" cy="856826"/>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flipV="1">
            <a:off x="3829051" y="2158519"/>
            <a:ext cx="0" cy="856826"/>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V="1">
            <a:off x="4275367" y="2155799"/>
            <a:ext cx="0" cy="856826"/>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flipV="1">
            <a:off x="2109112" y="2161238"/>
            <a:ext cx="0" cy="856826"/>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flipV="1">
            <a:off x="4860473" y="2153077"/>
            <a:ext cx="0" cy="856826"/>
          </a:xfrm>
          <a:prstGeom prst="straightConnector1">
            <a:avLst/>
          </a:prstGeom>
          <a:ln w="127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a:off x="3208564" y="1796352"/>
            <a:ext cx="587829" cy="0"/>
          </a:xfrm>
          <a:prstGeom prst="straightConnector1">
            <a:avLst/>
          </a:prstGeom>
          <a:ln w="25400">
            <a:solidFill>
              <a:srgbClr val="002060"/>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a:off x="2277829" y="6098726"/>
            <a:ext cx="3298371" cy="307777"/>
          </a:xfrm>
          <a:prstGeom prst="rect">
            <a:avLst/>
          </a:prstGeom>
          <a:solidFill>
            <a:schemeClr val="bg1"/>
          </a:solidFill>
        </p:spPr>
        <p:txBody>
          <a:bodyPr wrap="square" rtlCol="0">
            <a:spAutoFit/>
          </a:bodyPr>
          <a:lstStyle/>
          <a:p>
            <a:r>
              <a:rPr lang="en-US" sz="1400" dirty="0" smtClean="0"/>
              <a:t>End Users/ Business User/Vendor/Supplier</a:t>
            </a:r>
            <a:endParaRPr lang="en-IN" sz="1400" dirty="0"/>
          </a:p>
        </p:txBody>
      </p:sp>
      <p:sp>
        <p:nvSpPr>
          <p:cNvPr id="67" name="TextBox 66"/>
          <p:cNvSpPr txBox="1"/>
          <p:nvPr/>
        </p:nvSpPr>
        <p:spPr>
          <a:xfrm>
            <a:off x="2740479" y="4330184"/>
            <a:ext cx="1415144" cy="307777"/>
          </a:xfrm>
          <a:prstGeom prst="rect">
            <a:avLst/>
          </a:prstGeom>
          <a:solidFill>
            <a:schemeClr val="bg1"/>
          </a:solidFill>
          <a:ln>
            <a:solidFill>
              <a:schemeClr val="tx1"/>
            </a:solidFill>
          </a:ln>
        </p:spPr>
        <p:txBody>
          <a:bodyPr wrap="square" rtlCol="0">
            <a:spAutoFit/>
          </a:bodyPr>
          <a:lstStyle/>
          <a:p>
            <a:r>
              <a:rPr lang="en-US" sz="1400" dirty="0" smtClean="0"/>
              <a:t>Support Tickets</a:t>
            </a:r>
            <a:endParaRPr lang="en-IN" sz="1400" dirty="0"/>
          </a:p>
        </p:txBody>
      </p:sp>
      <p:sp>
        <p:nvSpPr>
          <p:cNvPr id="69" name="TextBox 68"/>
          <p:cNvSpPr txBox="1"/>
          <p:nvPr/>
        </p:nvSpPr>
        <p:spPr>
          <a:xfrm>
            <a:off x="2760799" y="2501384"/>
            <a:ext cx="1415144" cy="307777"/>
          </a:xfrm>
          <a:prstGeom prst="rect">
            <a:avLst/>
          </a:prstGeom>
          <a:solidFill>
            <a:schemeClr val="bg1"/>
          </a:solidFill>
          <a:ln>
            <a:solidFill>
              <a:schemeClr val="tx1"/>
            </a:solidFill>
          </a:ln>
        </p:spPr>
        <p:txBody>
          <a:bodyPr wrap="square" rtlCol="0">
            <a:spAutoFit/>
          </a:bodyPr>
          <a:lstStyle/>
          <a:p>
            <a:pPr algn="ctr"/>
            <a:r>
              <a:rPr lang="en-US" sz="1400" b="1" dirty="0" smtClean="0">
                <a:solidFill>
                  <a:srgbClr val="FF0000"/>
                </a:solidFill>
              </a:rPr>
              <a:t>L3 Tickets</a:t>
            </a:r>
            <a:endParaRPr lang="en-IN" sz="1400" b="1" dirty="0">
              <a:solidFill>
                <a:srgbClr val="FF0000"/>
              </a:solidFill>
            </a:endParaRPr>
          </a:p>
        </p:txBody>
      </p:sp>
      <p:sp>
        <p:nvSpPr>
          <p:cNvPr id="71" name="TextBox 70"/>
          <p:cNvSpPr txBox="1"/>
          <p:nvPr/>
        </p:nvSpPr>
        <p:spPr>
          <a:xfrm rot="16200000">
            <a:off x="653876" y="3354154"/>
            <a:ext cx="1415144" cy="307777"/>
          </a:xfrm>
          <a:prstGeom prst="rect">
            <a:avLst/>
          </a:prstGeom>
          <a:solidFill>
            <a:schemeClr val="bg1"/>
          </a:solidFill>
          <a:ln>
            <a:solidFill>
              <a:schemeClr val="tx1"/>
            </a:solidFill>
          </a:ln>
        </p:spPr>
        <p:txBody>
          <a:bodyPr wrap="square" rtlCol="0">
            <a:spAutoFit/>
          </a:bodyPr>
          <a:lstStyle/>
          <a:p>
            <a:pPr algn="ctr"/>
            <a:r>
              <a:rPr lang="en-US" sz="1400" b="1" dirty="0" smtClean="0">
                <a:solidFill>
                  <a:srgbClr val="FF0000"/>
                </a:solidFill>
              </a:rPr>
              <a:t>L3 Tickets</a:t>
            </a:r>
            <a:endParaRPr lang="en-IN" sz="1400" b="1" dirty="0">
              <a:solidFill>
                <a:srgbClr val="FF0000"/>
              </a:solidFill>
            </a:endParaRPr>
          </a:p>
        </p:txBody>
      </p:sp>
      <p:sp>
        <p:nvSpPr>
          <p:cNvPr id="72" name="TextBox 71"/>
          <p:cNvSpPr txBox="1"/>
          <p:nvPr/>
        </p:nvSpPr>
        <p:spPr>
          <a:xfrm rot="16200000">
            <a:off x="4860117" y="3394794"/>
            <a:ext cx="1415144" cy="307777"/>
          </a:xfrm>
          <a:prstGeom prst="rect">
            <a:avLst/>
          </a:prstGeom>
          <a:solidFill>
            <a:schemeClr val="bg1"/>
          </a:solidFill>
          <a:ln>
            <a:solidFill>
              <a:schemeClr val="tx1"/>
            </a:solidFill>
          </a:ln>
        </p:spPr>
        <p:txBody>
          <a:bodyPr wrap="square" rtlCol="0">
            <a:spAutoFit/>
          </a:bodyPr>
          <a:lstStyle/>
          <a:p>
            <a:pPr algn="ctr"/>
            <a:r>
              <a:rPr lang="en-US" sz="1400" b="1" dirty="0" smtClean="0">
                <a:solidFill>
                  <a:srgbClr val="FF0000"/>
                </a:solidFill>
              </a:rPr>
              <a:t>L3 Tickets</a:t>
            </a:r>
            <a:endParaRPr lang="en-IN" sz="1400" b="1" dirty="0">
              <a:solidFill>
                <a:srgbClr val="FF0000"/>
              </a:solidFill>
            </a:endParaRPr>
          </a:p>
        </p:txBody>
      </p:sp>
      <p:sp>
        <p:nvSpPr>
          <p:cNvPr id="73" name="TextBox 72"/>
          <p:cNvSpPr txBox="1"/>
          <p:nvPr/>
        </p:nvSpPr>
        <p:spPr>
          <a:xfrm>
            <a:off x="2181675" y="1063179"/>
            <a:ext cx="3091365" cy="307777"/>
          </a:xfrm>
          <a:prstGeom prst="rect">
            <a:avLst/>
          </a:prstGeom>
          <a:solidFill>
            <a:schemeClr val="bg1"/>
          </a:solidFill>
          <a:ln>
            <a:solidFill>
              <a:schemeClr val="tx1"/>
            </a:solidFill>
          </a:ln>
        </p:spPr>
        <p:txBody>
          <a:bodyPr wrap="square" rtlCol="0">
            <a:spAutoFit/>
          </a:bodyPr>
          <a:lstStyle/>
          <a:p>
            <a:r>
              <a:rPr lang="en-US" sz="1400" dirty="0" smtClean="0"/>
              <a:t>IT / Functional Expert Groups/ Vendors </a:t>
            </a:r>
            <a:endParaRPr lang="en-IN" sz="1400" dirty="0"/>
          </a:p>
        </p:txBody>
      </p:sp>
      <p:sp>
        <p:nvSpPr>
          <p:cNvPr id="74" name="TextBox 73"/>
          <p:cNvSpPr txBox="1"/>
          <p:nvPr/>
        </p:nvSpPr>
        <p:spPr>
          <a:xfrm>
            <a:off x="7424060" y="975359"/>
            <a:ext cx="4341220" cy="5431143"/>
          </a:xfrm>
          <a:prstGeom prst="rect">
            <a:avLst/>
          </a:prstGeom>
          <a:solidFill>
            <a:srgbClr val="002060"/>
          </a:solidFill>
          <a:ln>
            <a:solidFill>
              <a:schemeClr val="tx1"/>
            </a:solidFill>
          </a:ln>
        </p:spPr>
        <p:txBody>
          <a:bodyPr wrap="square" rtlCol="0">
            <a:noAutofit/>
          </a:bodyPr>
          <a:lstStyle/>
          <a:p>
            <a:endParaRPr lang="en-US" b="1" u="sng" dirty="0" smtClean="0">
              <a:solidFill>
                <a:schemeClr val="bg1"/>
              </a:solidFill>
            </a:endParaRPr>
          </a:p>
          <a:p>
            <a:r>
              <a:rPr lang="en-US" b="1" u="sng" dirty="0" smtClean="0">
                <a:solidFill>
                  <a:schemeClr val="bg1"/>
                </a:solidFill>
              </a:rPr>
              <a:t>Proposal :</a:t>
            </a:r>
          </a:p>
          <a:p>
            <a:pPr marL="285750" indent="-285750">
              <a:buFont typeface="Arial" panose="020B0604020202020204" pitchFamily="34" charset="0"/>
              <a:buChar char="•"/>
            </a:pPr>
            <a:r>
              <a:rPr lang="en-US" dirty="0" smtClean="0">
                <a:solidFill>
                  <a:schemeClr val="bg1"/>
                </a:solidFill>
              </a:rPr>
              <a:t>To automate the ticket the process of ticket analysis and assignment to the right functional / IT expert groups</a:t>
            </a:r>
          </a:p>
          <a:p>
            <a:r>
              <a:rPr lang="en-US" dirty="0" smtClean="0">
                <a:solidFill>
                  <a:schemeClr val="bg1"/>
                </a:solidFill>
              </a:rPr>
              <a:t>      (using Machine Learning / AI tool)</a:t>
            </a:r>
          </a:p>
          <a:p>
            <a:pPr marL="285750" indent="-285750">
              <a:buFont typeface="Arial" panose="020B0604020202020204" pitchFamily="34" charset="0"/>
              <a:buChar char="•"/>
            </a:pPr>
            <a:endParaRPr lang="en-US" dirty="0">
              <a:solidFill>
                <a:schemeClr val="bg1"/>
              </a:solidFill>
            </a:endParaRPr>
          </a:p>
          <a:p>
            <a:r>
              <a:rPr lang="en-US" u="sng" dirty="0" smtClean="0">
                <a:solidFill>
                  <a:schemeClr val="bg1"/>
                </a:solidFill>
              </a:rPr>
              <a:t>Objective:</a:t>
            </a:r>
          </a:p>
          <a:p>
            <a:pPr marL="285750" indent="-285750">
              <a:buFont typeface="Arial" panose="020B0604020202020204" pitchFamily="34" charset="0"/>
              <a:buChar char="•"/>
            </a:pPr>
            <a:r>
              <a:rPr lang="en-US" dirty="0" smtClean="0">
                <a:solidFill>
                  <a:schemeClr val="bg1"/>
                </a:solidFill>
              </a:rPr>
              <a:t>To reduce the ticket assignment time </a:t>
            </a:r>
          </a:p>
          <a:p>
            <a:pPr marL="285750" indent="-285750">
              <a:buFont typeface="Arial" panose="020B0604020202020204" pitchFamily="34" charset="0"/>
              <a:buChar char="•"/>
            </a:pPr>
            <a:r>
              <a:rPr lang="en-US" dirty="0" smtClean="0">
                <a:solidFill>
                  <a:schemeClr val="bg1"/>
                </a:solidFill>
              </a:rPr>
              <a:t>To reduce ticket resolution time</a:t>
            </a:r>
          </a:p>
          <a:p>
            <a:pPr marL="285750" indent="-285750">
              <a:buFont typeface="Arial" panose="020B0604020202020204" pitchFamily="34" charset="0"/>
              <a:buChar char="•"/>
            </a:pPr>
            <a:r>
              <a:rPr lang="en-US" dirty="0" smtClean="0">
                <a:solidFill>
                  <a:schemeClr val="bg1"/>
                </a:solidFill>
              </a:rPr>
              <a:t>To reduce wrong assignment of tickets</a:t>
            </a:r>
          </a:p>
          <a:p>
            <a:pPr marL="285750" indent="-285750">
              <a:buFont typeface="Arial" panose="020B0604020202020204" pitchFamily="34" charset="0"/>
              <a:buChar char="•"/>
            </a:pPr>
            <a:r>
              <a:rPr lang="en-US" dirty="0" smtClean="0">
                <a:solidFill>
                  <a:schemeClr val="bg1"/>
                </a:solidFill>
              </a:rPr>
              <a:t>To optimize the resources</a:t>
            </a:r>
          </a:p>
          <a:p>
            <a:endParaRPr lang="en-US" dirty="0" smtClean="0">
              <a:solidFill>
                <a:schemeClr val="bg1"/>
              </a:solidFill>
            </a:endParaRPr>
          </a:p>
          <a:p>
            <a:r>
              <a:rPr lang="en-US" dirty="0" smtClean="0">
                <a:solidFill>
                  <a:schemeClr val="bg1"/>
                </a:solidFill>
              </a:rPr>
              <a:t>e.g. Service Desk can utilize the time for ticket resolution instead of going through SOP and ticket assignment</a:t>
            </a:r>
          </a:p>
          <a:p>
            <a:endParaRPr lang="en-US" dirty="0">
              <a:solidFill>
                <a:schemeClr val="bg1"/>
              </a:solidFill>
            </a:endParaRPr>
          </a:p>
          <a:p>
            <a:r>
              <a:rPr lang="en-US" dirty="0" smtClean="0">
                <a:solidFill>
                  <a:schemeClr val="bg1"/>
                </a:solidFill>
              </a:rPr>
              <a:t>ML/AI can work 24X7 through out the year (without worrying about corona </a:t>
            </a:r>
            <a:r>
              <a:rPr lang="en-US" dirty="0" smtClean="0">
                <a:solidFill>
                  <a:schemeClr val="bg1"/>
                </a:solidFill>
                <a:sym typeface="Wingdings" panose="05000000000000000000" pitchFamily="2" charset="2"/>
              </a:rPr>
              <a:t>)</a:t>
            </a:r>
            <a:r>
              <a:rPr lang="en-US" dirty="0" smtClean="0">
                <a:solidFill>
                  <a:schemeClr val="bg1"/>
                </a:solidFill>
              </a:rPr>
              <a:t>  </a:t>
            </a:r>
            <a:endParaRPr lang="en-US" dirty="0">
              <a:solidFill>
                <a:schemeClr val="bg1"/>
              </a:solidFill>
            </a:endParaRPr>
          </a:p>
          <a:p>
            <a:pPr marL="285750" indent="-285750">
              <a:buFont typeface="Arial" panose="020B0604020202020204" pitchFamily="34" charset="0"/>
              <a:buChar char="•"/>
            </a:pPr>
            <a:endParaRPr lang="en-IN" dirty="0">
              <a:solidFill>
                <a:schemeClr val="bg1"/>
              </a:solidFill>
            </a:endParaRPr>
          </a:p>
        </p:txBody>
      </p:sp>
      <p:grpSp>
        <p:nvGrpSpPr>
          <p:cNvPr id="42" name="Group 41"/>
          <p:cNvGrpSpPr/>
          <p:nvPr/>
        </p:nvGrpSpPr>
        <p:grpSpPr>
          <a:xfrm>
            <a:off x="1875068" y="2936426"/>
            <a:ext cx="3448050" cy="1161367"/>
            <a:chOff x="2808514" y="2873830"/>
            <a:chExt cx="4008665" cy="1494065"/>
          </a:xfrm>
        </p:grpSpPr>
        <p:pic>
          <p:nvPicPr>
            <p:cNvPr id="44" name="Picture 4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08514" y="2873831"/>
              <a:ext cx="2024743" cy="1494064"/>
            </a:xfrm>
            <a:prstGeom prst="rect">
              <a:avLst/>
            </a:prstGeom>
          </p:spPr>
        </p:pic>
        <p:pic>
          <p:nvPicPr>
            <p:cNvPr id="46" name="Picture 4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33257" y="2873830"/>
              <a:ext cx="1983922" cy="1494064"/>
            </a:xfrm>
            <a:prstGeom prst="rect">
              <a:avLst/>
            </a:prstGeom>
          </p:spPr>
        </p:pic>
      </p:grpSp>
      <p:sp>
        <p:nvSpPr>
          <p:cNvPr id="68" name="TextBox 67"/>
          <p:cNvSpPr txBox="1"/>
          <p:nvPr/>
        </p:nvSpPr>
        <p:spPr>
          <a:xfrm>
            <a:off x="2582252" y="3066637"/>
            <a:ext cx="1276603" cy="1015663"/>
          </a:xfrm>
          <a:prstGeom prst="rect">
            <a:avLst/>
          </a:prstGeom>
          <a:solidFill>
            <a:schemeClr val="bg1"/>
          </a:solidFill>
          <a:ln>
            <a:solidFill>
              <a:schemeClr val="tx1"/>
            </a:solidFill>
          </a:ln>
        </p:spPr>
        <p:txBody>
          <a:bodyPr wrap="square" rtlCol="0">
            <a:spAutoFit/>
          </a:bodyPr>
          <a:lstStyle/>
          <a:p>
            <a:pPr algn="ctr"/>
            <a:r>
              <a:rPr lang="en-US" sz="1200" dirty="0" smtClean="0"/>
              <a:t>Automatic Routing of tickets to the right functional group</a:t>
            </a:r>
          </a:p>
          <a:p>
            <a:pPr algn="ctr"/>
            <a:r>
              <a:rPr lang="en-US" sz="1200" b="1" i="1" dirty="0" err="1" smtClean="0"/>
              <a:t>AIops</a:t>
            </a:r>
            <a:endParaRPr lang="en-IN" sz="1200" b="1" i="1" dirty="0"/>
          </a:p>
        </p:txBody>
      </p:sp>
    </p:spTree>
    <p:extLst>
      <p:ext uri="{BB962C8B-B14F-4D97-AF65-F5344CB8AC3E}">
        <p14:creationId xmlns:p14="http://schemas.microsoft.com/office/powerpoint/2010/main" val="26384117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EDA, Preprocessing and Topic Modelling</a:t>
            </a:r>
            <a:endParaRPr lang="en-IN" dirty="0"/>
          </a:p>
        </p:txBody>
      </p:sp>
    </p:spTree>
    <p:extLst>
      <p:ext uri="{BB962C8B-B14F-4D97-AF65-F5344CB8AC3E}">
        <p14:creationId xmlns:p14="http://schemas.microsoft.com/office/powerpoint/2010/main" val="34740992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540"/>
            <a:ext cx="10515600" cy="1120775"/>
          </a:xfrm>
        </p:spPr>
        <p:txBody>
          <a:bodyPr>
            <a:normAutofit/>
          </a:bodyPr>
          <a:lstStyle/>
          <a:p>
            <a:r>
              <a:rPr lang="en-US" dirty="0" smtClean="0"/>
              <a:t>High Level Process Flow</a:t>
            </a:r>
            <a:endParaRPr lang="en-IN" dirty="0"/>
          </a:p>
        </p:txBody>
      </p:sp>
      <p:sp>
        <p:nvSpPr>
          <p:cNvPr id="5" name="TextBox 4"/>
          <p:cNvSpPr txBox="1"/>
          <p:nvPr/>
        </p:nvSpPr>
        <p:spPr>
          <a:xfrm>
            <a:off x="797380" y="2080530"/>
            <a:ext cx="925286" cy="2152649"/>
          </a:xfrm>
          <a:prstGeom prst="rect">
            <a:avLst/>
          </a:prstGeom>
          <a:solidFill>
            <a:srgbClr val="002060"/>
          </a:solidFill>
        </p:spPr>
        <p:txBody>
          <a:bodyPr vert="vert270" wrap="none" rtlCol="0" anchor="ctr" anchorCtr="0">
            <a:noAutofit/>
          </a:bodyPr>
          <a:lstStyle/>
          <a:p>
            <a:endParaRPr lang="en-US" dirty="0" smtClean="0">
              <a:solidFill>
                <a:schemeClr val="bg1"/>
              </a:solidFill>
            </a:endParaRPr>
          </a:p>
          <a:p>
            <a:pPr algn="ctr"/>
            <a:r>
              <a:rPr lang="en-US" dirty="0" smtClean="0">
                <a:solidFill>
                  <a:schemeClr val="bg1"/>
                </a:solidFill>
              </a:rPr>
              <a:t>Data Exploration</a:t>
            </a:r>
          </a:p>
          <a:p>
            <a:endParaRPr lang="en-IN" dirty="0">
              <a:solidFill>
                <a:schemeClr val="bg1"/>
              </a:solidFill>
            </a:endParaRPr>
          </a:p>
        </p:txBody>
      </p:sp>
      <p:sp>
        <p:nvSpPr>
          <p:cNvPr id="6" name="TextBox 5"/>
          <p:cNvSpPr txBox="1"/>
          <p:nvPr/>
        </p:nvSpPr>
        <p:spPr>
          <a:xfrm>
            <a:off x="394613" y="5091791"/>
            <a:ext cx="1221919" cy="1322615"/>
          </a:xfrm>
          <a:prstGeom prst="rect">
            <a:avLst/>
          </a:prstGeom>
          <a:solidFill>
            <a:schemeClr val="accent2"/>
          </a:solidFill>
        </p:spPr>
        <p:txBody>
          <a:bodyPr wrap="square" rtlCol="0">
            <a:noAutofit/>
          </a:bodyPr>
          <a:lstStyle/>
          <a:p>
            <a:endParaRPr lang="en-US" sz="1000" dirty="0" smtClean="0">
              <a:solidFill>
                <a:schemeClr val="bg1"/>
              </a:solidFill>
            </a:endParaRPr>
          </a:p>
          <a:p>
            <a:pPr marL="171450" indent="-171450">
              <a:buFont typeface="Arial" panose="020B0604020202020204" pitchFamily="34" charset="0"/>
              <a:buChar char="•"/>
            </a:pPr>
            <a:r>
              <a:rPr lang="en-US" sz="1000" dirty="0" smtClean="0"/>
              <a:t>Data Distribution</a:t>
            </a:r>
          </a:p>
          <a:p>
            <a:pPr marL="171450" indent="-171450">
              <a:buFont typeface="Arial" panose="020B0604020202020204" pitchFamily="34" charset="0"/>
              <a:buChar char="•"/>
            </a:pPr>
            <a:r>
              <a:rPr lang="en-US" sz="1000" dirty="0" smtClean="0"/>
              <a:t>Data Types</a:t>
            </a:r>
          </a:p>
          <a:p>
            <a:pPr marL="171450" indent="-171450">
              <a:buFont typeface="Arial" panose="020B0604020202020204" pitchFamily="34" charset="0"/>
              <a:buChar char="•"/>
            </a:pPr>
            <a:r>
              <a:rPr lang="en-US" sz="1000" dirty="0" smtClean="0"/>
              <a:t>Features/ Attributes</a:t>
            </a:r>
          </a:p>
          <a:p>
            <a:pPr marL="171450" indent="-171450">
              <a:buFont typeface="Arial" panose="020B0604020202020204" pitchFamily="34" charset="0"/>
              <a:buChar char="•"/>
            </a:pPr>
            <a:r>
              <a:rPr lang="en-US" sz="1000" dirty="0" smtClean="0"/>
              <a:t>NULL Values</a:t>
            </a:r>
          </a:p>
          <a:p>
            <a:pPr marL="171450" indent="-171450">
              <a:buFont typeface="Arial" panose="020B0604020202020204" pitchFamily="34" charset="0"/>
              <a:buChar char="•"/>
            </a:pPr>
            <a:endParaRPr lang="en-US" sz="1000" dirty="0" smtClean="0">
              <a:solidFill>
                <a:schemeClr val="bg1"/>
              </a:solidFill>
            </a:endParaRPr>
          </a:p>
          <a:p>
            <a:endParaRPr lang="en-IN" dirty="0">
              <a:solidFill>
                <a:schemeClr val="bg1"/>
              </a:solidFill>
            </a:endParaRPr>
          </a:p>
        </p:txBody>
      </p:sp>
      <p:sp>
        <p:nvSpPr>
          <p:cNvPr id="7" name="TextBox 6"/>
          <p:cNvSpPr txBox="1"/>
          <p:nvPr/>
        </p:nvSpPr>
        <p:spPr>
          <a:xfrm>
            <a:off x="2194596" y="2091417"/>
            <a:ext cx="925286" cy="2152649"/>
          </a:xfrm>
          <a:prstGeom prst="rect">
            <a:avLst/>
          </a:prstGeom>
          <a:solidFill>
            <a:srgbClr val="002060"/>
          </a:solidFill>
        </p:spPr>
        <p:txBody>
          <a:bodyPr vert="vert270" wrap="none" rtlCol="0" anchor="ctr" anchorCtr="0">
            <a:noAutofit/>
          </a:bodyPr>
          <a:lstStyle/>
          <a:p>
            <a:pPr algn="ctr"/>
            <a:r>
              <a:rPr lang="en-US" dirty="0" smtClean="0">
                <a:solidFill>
                  <a:schemeClr val="bg1"/>
                </a:solidFill>
              </a:rPr>
              <a:t>Text Cleaning</a:t>
            </a:r>
            <a:endParaRPr lang="en-IN" dirty="0">
              <a:solidFill>
                <a:schemeClr val="bg1"/>
              </a:solidFill>
            </a:endParaRPr>
          </a:p>
        </p:txBody>
      </p:sp>
      <p:sp>
        <p:nvSpPr>
          <p:cNvPr id="8" name="TextBox 7"/>
          <p:cNvSpPr txBox="1"/>
          <p:nvPr/>
        </p:nvSpPr>
        <p:spPr>
          <a:xfrm>
            <a:off x="1763500" y="5116282"/>
            <a:ext cx="1575694" cy="1322615"/>
          </a:xfrm>
          <a:prstGeom prst="rect">
            <a:avLst/>
          </a:prstGeom>
          <a:solidFill>
            <a:schemeClr val="accent2"/>
          </a:solidFill>
        </p:spPr>
        <p:txBody>
          <a:bodyPr wrap="square" rtlCol="0">
            <a:noAutofit/>
          </a:bodyPr>
          <a:lstStyle/>
          <a:p>
            <a:endParaRPr lang="en-US" sz="1000" dirty="0" smtClean="0"/>
          </a:p>
          <a:p>
            <a:pPr marL="171450" indent="-171450">
              <a:buFont typeface="Arial" panose="020B0604020202020204" pitchFamily="34" charset="0"/>
              <a:buChar char="•"/>
            </a:pPr>
            <a:r>
              <a:rPr lang="en-US" sz="1000" dirty="0" smtClean="0"/>
              <a:t>Covert to Lower Case</a:t>
            </a:r>
          </a:p>
          <a:p>
            <a:pPr marL="171450" indent="-171450">
              <a:buFont typeface="Arial" panose="020B0604020202020204" pitchFamily="34" charset="0"/>
              <a:buChar char="•"/>
            </a:pPr>
            <a:r>
              <a:rPr lang="en-US" sz="1000" dirty="0" smtClean="0"/>
              <a:t>Remove Punctuation Remove Digits</a:t>
            </a:r>
          </a:p>
          <a:p>
            <a:pPr marL="171450" indent="-171450">
              <a:buFont typeface="Arial" panose="020B0604020202020204" pitchFamily="34" charset="0"/>
              <a:buChar char="•"/>
            </a:pPr>
            <a:r>
              <a:rPr lang="en-US" sz="1000" dirty="0" smtClean="0"/>
              <a:t>Remove E-mail IDs, URL</a:t>
            </a:r>
          </a:p>
          <a:p>
            <a:pPr marL="171450" indent="-171450">
              <a:buFont typeface="Arial" panose="020B0604020202020204" pitchFamily="34" charset="0"/>
              <a:buChar char="•"/>
            </a:pPr>
            <a:r>
              <a:rPr lang="en-US" sz="1000" dirty="0" smtClean="0"/>
              <a:t>Remove Stop Words</a:t>
            </a:r>
          </a:p>
          <a:p>
            <a:r>
              <a:rPr lang="en-US" sz="1000" dirty="0" smtClean="0">
                <a:solidFill>
                  <a:schemeClr val="bg1"/>
                </a:solidFill>
              </a:rPr>
              <a:t>…</a:t>
            </a:r>
          </a:p>
          <a:p>
            <a:endParaRPr lang="en-IN" dirty="0">
              <a:solidFill>
                <a:schemeClr val="bg1"/>
              </a:solidFill>
            </a:endParaRPr>
          </a:p>
        </p:txBody>
      </p:sp>
      <p:sp>
        <p:nvSpPr>
          <p:cNvPr id="9" name="TextBox 8"/>
          <p:cNvSpPr txBox="1"/>
          <p:nvPr/>
        </p:nvSpPr>
        <p:spPr>
          <a:xfrm>
            <a:off x="3690259" y="2080530"/>
            <a:ext cx="925286" cy="2152649"/>
          </a:xfrm>
          <a:prstGeom prst="rect">
            <a:avLst/>
          </a:prstGeom>
          <a:solidFill>
            <a:srgbClr val="002060"/>
          </a:solidFill>
        </p:spPr>
        <p:txBody>
          <a:bodyPr vert="vert270" wrap="none" rtlCol="0" anchor="ctr" anchorCtr="0">
            <a:noAutofit/>
          </a:bodyPr>
          <a:lstStyle/>
          <a:p>
            <a:pPr algn="ctr"/>
            <a:r>
              <a:rPr lang="en-US" dirty="0" smtClean="0">
                <a:solidFill>
                  <a:schemeClr val="bg1"/>
                </a:solidFill>
              </a:rPr>
              <a:t>Text Pre-processing</a:t>
            </a:r>
            <a:endParaRPr lang="en-IN" dirty="0">
              <a:solidFill>
                <a:schemeClr val="bg1"/>
              </a:solidFill>
            </a:endParaRPr>
          </a:p>
        </p:txBody>
      </p:sp>
      <p:sp>
        <p:nvSpPr>
          <p:cNvPr id="10" name="TextBox 9"/>
          <p:cNvSpPr txBox="1"/>
          <p:nvPr/>
        </p:nvSpPr>
        <p:spPr>
          <a:xfrm>
            <a:off x="3597744" y="5121727"/>
            <a:ext cx="1472277" cy="1322615"/>
          </a:xfrm>
          <a:prstGeom prst="rect">
            <a:avLst/>
          </a:prstGeom>
          <a:solidFill>
            <a:schemeClr val="accent2"/>
          </a:solidFill>
        </p:spPr>
        <p:txBody>
          <a:bodyPr wrap="square" rtlCol="0">
            <a:noAutofit/>
          </a:bodyPr>
          <a:lstStyle/>
          <a:p>
            <a:endParaRPr lang="en-US" sz="1000" dirty="0" smtClean="0"/>
          </a:p>
          <a:p>
            <a:pPr marL="171450" indent="-171450">
              <a:buFont typeface="Arial" panose="020B0604020202020204" pitchFamily="34" charset="0"/>
              <a:buChar char="•"/>
            </a:pPr>
            <a:r>
              <a:rPr lang="en-US" sz="1000" dirty="0" smtClean="0"/>
              <a:t>Tokenization</a:t>
            </a:r>
          </a:p>
          <a:p>
            <a:pPr marL="171450" indent="-171450">
              <a:buFont typeface="Arial" panose="020B0604020202020204" pitchFamily="34" charset="0"/>
              <a:buChar char="•"/>
            </a:pPr>
            <a:r>
              <a:rPr lang="en-US" sz="1000" dirty="0" smtClean="0"/>
              <a:t>Dictionary Creation</a:t>
            </a:r>
          </a:p>
          <a:p>
            <a:pPr marL="171450" indent="-171450">
              <a:buFont typeface="Arial" panose="020B0604020202020204" pitchFamily="34" charset="0"/>
              <a:buChar char="•"/>
            </a:pPr>
            <a:r>
              <a:rPr lang="en-US" sz="1000" dirty="0"/>
              <a:t>Feature </a:t>
            </a:r>
            <a:r>
              <a:rPr lang="en-US" sz="1000" dirty="0" smtClean="0"/>
              <a:t>Extraction</a:t>
            </a:r>
          </a:p>
          <a:p>
            <a:pPr marL="171450" indent="-171450">
              <a:buFont typeface="Arial" panose="020B0604020202020204" pitchFamily="34" charset="0"/>
              <a:buChar char="•"/>
            </a:pPr>
            <a:r>
              <a:rPr lang="en-US" sz="1000" dirty="0" smtClean="0"/>
              <a:t>Corpus Preparation</a:t>
            </a:r>
          </a:p>
          <a:p>
            <a:pPr marL="171450" indent="-171450">
              <a:buFont typeface="Arial" panose="020B0604020202020204" pitchFamily="34" charset="0"/>
              <a:buChar char="•"/>
            </a:pPr>
            <a:endParaRPr lang="en-US" sz="1000" dirty="0"/>
          </a:p>
          <a:p>
            <a:pPr marL="171450" indent="-171450">
              <a:buFont typeface="Arial" panose="020B0604020202020204" pitchFamily="34" charset="0"/>
              <a:buChar char="•"/>
            </a:pPr>
            <a:endParaRPr lang="en-US" sz="1000" dirty="0" smtClean="0"/>
          </a:p>
          <a:p>
            <a:pPr marL="171450" indent="-171450">
              <a:buFont typeface="Arial" panose="020B0604020202020204" pitchFamily="34" charset="0"/>
              <a:buChar char="•"/>
            </a:pPr>
            <a:endParaRPr lang="en-US" sz="1000" dirty="0" smtClean="0"/>
          </a:p>
          <a:p>
            <a:r>
              <a:rPr lang="en-US" sz="1000" dirty="0" smtClean="0">
                <a:solidFill>
                  <a:schemeClr val="bg1"/>
                </a:solidFill>
              </a:rPr>
              <a:t>…</a:t>
            </a:r>
          </a:p>
          <a:p>
            <a:endParaRPr lang="en-IN" dirty="0">
              <a:solidFill>
                <a:schemeClr val="bg1"/>
              </a:solidFill>
            </a:endParaRPr>
          </a:p>
        </p:txBody>
      </p:sp>
      <p:sp>
        <p:nvSpPr>
          <p:cNvPr id="11" name="Trapezoid 10"/>
          <p:cNvSpPr/>
          <p:nvPr/>
        </p:nvSpPr>
        <p:spPr>
          <a:xfrm rot="5400000">
            <a:off x="4934186" y="1810714"/>
            <a:ext cx="1260265" cy="1045429"/>
          </a:xfrm>
          <a:prstGeom prst="trapezoid">
            <a:avLst/>
          </a:prstGeom>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en-US" dirty="0" smtClean="0"/>
              <a:t>LDA</a:t>
            </a:r>
            <a:endParaRPr lang="en-IN" dirty="0"/>
          </a:p>
        </p:txBody>
      </p:sp>
      <p:sp>
        <p:nvSpPr>
          <p:cNvPr id="13" name="TextBox 12"/>
          <p:cNvSpPr txBox="1"/>
          <p:nvPr/>
        </p:nvSpPr>
        <p:spPr>
          <a:xfrm>
            <a:off x="6568486" y="1889557"/>
            <a:ext cx="1858337" cy="3416320"/>
          </a:xfrm>
          <a:prstGeom prst="rect">
            <a:avLst/>
          </a:prstGeom>
          <a:solidFill>
            <a:srgbClr val="002060"/>
          </a:solidFill>
        </p:spPr>
        <p:txBody>
          <a:bodyPr wrap="square" rtlCol="0">
            <a:spAutoFit/>
          </a:bodyPr>
          <a:lstStyle/>
          <a:p>
            <a:r>
              <a:rPr lang="en-US" b="1" u="sng" dirty="0" smtClean="0">
                <a:solidFill>
                  <a:schemeClr val="bg1"/>
                </a:solidFill>
              </a:rPr>
              <a:t>ML Algorithms</a:t>
            </a:r>
          </a:p>
          <a:p>
            <a:pPr marL="285750" indent="-285750">
              <a:buFont typeface="Arial" panose="020B0604020202020204" pitchFamily="34" charset="0"/>
              <a:buChar char="•"/>
            </a:pPr>
            <a:r>
              <a:rPr lang="en-US" dirty="0" smtClean="0">
                <a:solidFill>
                  <a:schemeClr val="bg1"/>
                </a:solidFill>
              </a:rPr>
              <a:t>Linear Regression</a:t>
            </a:r>
          </a:p>
          <a:p>
            <a:pPr marL="285750" indent="-285750">
              <a:buFont typeface="Arial" panose="020B0604020202020204" pitchFamily="34" charset="0"/>
              <a:buChar char="•"/>
            </a:pPr>
            <a:r>
              <a:rPr lang="en-US" dirty="0" smtClean="0">
                <a:solidFill>
                  <a:schemeClr val="bg1"/>
                </a:solidFill>
              </a:rPr>
              <a:t>Decision Tree</a:t>
            </a:r>
          </a:p>
          <a:p>
            <a:pPr marL="285750" indent="-285750">
              <a:buFont typeface="Arial" panose="020B0604020202020204" pitchFamily="34" charset="0"/>
              <a:buChar char="•"/>
            </a:pPr>
            <a:r>
              <a:rPr lang="en-US" dirty="0" smtClean="0">
                <a:solidFill>
                  <a:schemeClr val="bg1"/>
                </a:solidFill>
              </a:rPr>
              <a:t>Random Forest</a:t>
            </a:r>
          </a:p>
          <a:p>
            <a:pPr marL="285750" indent="-285750">
              <a:buFont typeface="Arial" panose="020B0604020202020204" pitchFamily="34" charset="0"/>
              <a:buChar char="•"/>
            </a:pPr>
            <a:r>
              <a:rPr lang="en-US" dirty="0" err="1" smtClean="0">
                <a:solidFill>
                  <a:schemeClr val="bg1"/>
                </a:solidFill>
              </a:rPr>
              <a:t>AdaBoost</a:t>
            </a:r>
            <a:endParaRPr lang="en-US" dirty="0" smtClean="0">
              <a:solidFill>
                <a:schemeClr val="bg1"/>
              </a:solidFill>
            </a:endParaRPr>
          </a:p>
          <a:p>
            <a:pPr marL="285750" indent="-285750">
              <a:buFont typeface="Arial" panose="020B0604020202020204" pitchFamily="34" charset="0"/>
              <a:buChar char="•"/>
            </a:pPr>
            <a:r>
              <a:rPr lang="en-US" dirty="0" err="1" smtClean="0">
                <a:solidFill>
                  <a:schemeClr val="bg1"/>
                </a:solidFill>
              </a:rPr>
              <a:t>GradientBoost</a:t>
            </a:r>
            <a:endParaRPr lang="en-US" dirty="0" smtClean="0">
              <a:solidFill>
                <a:schemeClr val="bg1"/>
              </a:solidFill>
            </a:endParaRPr>
          </a:p>
          <a:p>
            <a:pPr marL="285750" indent="-285750">
              <a:buFont typeface="Arial" panose="020B0604020202020204" pitchFamily="34" charset="0"/>
              <a:buChar char="•"/>
            </a:pPr>
            <a:r>
              <a:rPr lang="en-US" dirty="0" smtClean="0">
                <a:solidFill>
                  <a:schemeClr val="bg1"/>
                </a:solidFill>
              </a:rPr>
              <a:t>Multinomial Naïve Bayes</a:t>
            </a:r>
          </a:p>
          <a:p>
            <a:pPr marL="285750" indent="-285750">
              <a:buFont typeface="Arial" panose="020B0604020202020204" pitchFamily="34" charset="0"/>
              <a:buChar char="•"/>
            </a:pPr>
            <a:r>
              <a:rPr lang="en-US" dirty="0" smtClean="0">
                <a:solidFill>
                  <a:schemeClr val="bg1"/>
                </a:solidFill>
              </a:rPr>
              <a:t>Support Vector</a:t>
            </a:r>
            <a:endParaRPr lang="en-IN" dirty="0">
              <a:solidFill>
                <a:schemeClr val="bg1"/>
              </a:solidFill>
            </a:endParaRPr>
          </a:p>
        </p:txBody>
      </p:sp>
      <p:sp>
        <p:nvSpPr>
          <p:cNvPr id="14" name="TextBox 13"/>
          <p:cNvSpPr txBox="1"/>
          <p:nvPr/>
        </p:nvSpPr>
        <p:spPr>
          <a:xfrm>
            <a:off x="8899466" y="1351193"/>
            <a:ext cx="925286" cy="4529653"/>
          </a:xfrm>
          <a:prstGeom prst="rect">
            <a:avLst/>
          </a:prstGeom>
          <a:solidFill>
            <a:srgbClr val="002060"/>
          </a:solidFill>
        </p:spPr>
        <p:txBody>
          <a:bodyPr vert="vert270" wrap="none" rtlCol="0" anchor="ctr" anchorCtr="0">
            <a:noAutofit/>
          </a:bodyPr>
          <a:lstStyle/>
          <a:p>
            <a:pPr algn="ctr"/>
            <a:r>
              <a:rPr lang="en-US" dirty="0" err="1" smtClean="0">
                <a:solidFill>
                  <a:schemeClr val="bg1"/>
                </a:solidFill>
              </a:rPr>
              <a:t>Keras</a:t>
            </a:r>
            <a:r>
              <a:rPr lang="en-US" dirty="0" smtClean="0">
                <a:solidFill>
                  <a:schemeClr val="bg1"/>
                </a:solidFill>
              </a:rPr>
              <a:t> LSTM</a:t>
            </a:r>
            <a:endParaRPr lang="en-IN" dirty="0">
              <a:solidFill>
                <a:schemeClr val="bg1"/>
              </a:solidFill>
            </a:endParaRPr>
          </a:p>
        </p:txBody>
      </p:sp>
      <p:cxnSp>
        <p:nvCxnSpPr>
          <p:cNvPr id="16" name="Straight Connector 15"/>
          <p:cNvCxnSpPr/>
          <p:nvPr/>
        </p:nvCxnSpPr>
        <p:spPr>
          <a:xfrm>
            <a:off x="4633475" y="3597717"/>
            <a:ext cx="195294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0277815" y="4450015"/>
            <a:ext cx="1472277" cy="1988882"/>
          </a:xfrm>
          <a:prstGeom prst="rect">
            <a:avLst/>
          </a:prstGeom>
          <a:solidFill>
            <a:srgbClr val="92D050"/>
          </a:solidFill>
        </p:spPr>
        <p:txBody>
          <a:bodyPr wrap="square" rtlCol="0">
            <a:noAutofit/>
          </a:bodyPr>
          <a:lstStyle/>
          <a:p>
            <a:endParaRPr lang="en-US" sz="1200" dirty="0"/>
          </a:p>
          <a:p>
            <a:r>
              <a:rPr lang="en-US" sz="1200" dirty="0" smtClean="0"/>
              <a:t>Different combination of groups (orig. 74 groups)</a:t>
            </a:r>
          </a:p>
          <a:p>
            <a:endParaRPr lang="en-US" sz="1200" dirty="0" smtClean="0"/>
          </a:p>
          <a:p>
            <a:r>
              <a:rPr lang="en-US" sz="1200" b="1" dirty="0" smtClean="0"/>
              <a:t>Accuracy ranges between</a:t>
            </a:r>
          </a:p>
          <a:p>
            <a:r>
              <a:rPr lang="en-US" sz="1200" b="1" dirty="0" smtClean="0"/>
              <a:t>45 – 65 % </a:t>
            </a:r>
            <a:endParaRPr lang="en-IN" sz="1200" b="1" dirty="0">
              <a:solidFill>
                <a:schemeClr val="bg1"/>
              </a:solidFill>
            </a:endParaRPr>
          </a:p>
        </p:txBody>
      </p:sp>
      <p:sp>
        <p:nvSpPr>
          <p:cNvPr id="18" name="TextBox 17"/>
          <p:cNvSpPr txBox="1"/>
          <p:nvPr/>
        </p:nvSpPr>
        <p:spPr>
          <a:xfrm>
            <a:off x="10177835" y="1479176"/>
            <a:ext cx="1503177" cy="1685366"/>
          </a:xfrm>
          <a:prstGeom prst="rect">
            <a:avLst/>
          </a:prstGeom>
          <a:solidFill>
            <a:srgbClr val="FFFF00"/>
          </a:solidFill>
        </p:spPr>
        <p:txBody>
          <a:bodyPr wrap="square" rtlCol="0">
            <a:noAutofit/>
          </a:bodyPr>
          <a:lstStyle/>
          <a:p>
            <a:endParaRPr lang="en-US" sz="1200" dirty="0"/>
          </a:p>
          <a:p>
            <a:r>
              <a:rPr lang="en-US" sz="1200" b="1" dirty="0" smtClean="0"/>
              <a:t>We Will see </a:t>
            </a:r>
          </a:p>
          <a:p>
            <a:endParaRPr lang="en-US" sz="1200" b="1" dirty="0"/>
          </a:p>
          <a:p>
            <a:r>
              <a:rPr lang="en-US" sz="1200" b="1" dirty="0" smtClean="0"/>
              <a:t>???</a:t>
            </a:r>
          </a:p>
          <a:p>
            <a:r>
              <a:rPr lang="en-US" sz="1200" b="1" dirty="0" smtClean="0"/>
              <a:t> </a:t>
            </a:r>
            <a:endParaRPr lang="en-IN" sz="1200" b="1" dirty="0">
              <a:solidFill>
                <a:schemeClr val="bg1"/>
              </a:solidFill>
            </a:endParaRPr>
          </a:p>
        </p:txBody>
      </p:sp>
      <p:cxnSp>
        <p:nvCxnSpPr>
          <p:cNvPr id="19" name="Straight Connector 18"/>
          <p:cNvCxnSpPr/>
          <p:nvPr/>
        </p:nvCxnSpPr>
        <p:spPr>
          <a:xfrm>
            <a:off x="9797151" y="3597715"/>
            <a:ext cx="195294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8425548" y="3588749"/>
            <a:ext cx="559896" cy="8966"/>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3" name="TextBox 22"/>
          <p:cNvSpPr txBox="1"/>
          <p:nvPr/>
        </p:nvSpPr>
        <p:spPr>
          <a:xfrm>
            <a:off x="5274205" y="4450015"/>
            <a:ext cx="1023909" cy="646331"/>
          </a:xfrm>
          <a:prstGeom prst="rect">
            <a:avLst/>
          </a:prstGeom>
          <a:noFill/>
        </p:spPr>
        <p:txBody>
          <a:bodyPr wrap="square" rtlCol="0">
            <a:spAutoFit/>
          </a:bodyPr>
          <a:lstStyle/>
          <a:p>
            <a:pPr algn="ctr"/>
            <a:r>
              <a:rPr lang="en-US" dirty="0" smtClean="0"/>
              <a:t>74 Groups</a:t>
            </a:r>
            <a:endParaRPr lang="en-IN" dirty="0"/>
          </a:p>
        </p:txBody>
      </p:sp>
      <p:sp>
        <p:nvSpPr>
          <p:cNvPr id="24" name="TextBox 23"/>
          <p:cNvSpPr txBox="1"/>
          <p:nvPr/>
        </p:nvSpPr>
        <p:spPr>
          <a:xfrm>
            <a:off x="5426605" y="2917047"/>
            <a:ext cx="1023909" cy="369332"/>
          </a:xfrm>
          <a:prstGeom prst="rect">
            <a:avLst/>
          </a:prstGeom>
          <a:noFill/>
        </p:spPr>
        <p:txBody>
          <a:bodyPr wrap="square" rtlCol="0">
            <a:spAutoFit/>
          </a:bodyPr>
          <a:lstStyle/>
          <a:p>
            <a:pPr algn="ctr"/>
            <a:r>
              <a:rPr lang="en-US" dirty="0" smtClean="0"/>
              <a:t>4 Groups</a:t>
            </a:r>
            <a:endParaRPr lang="en-IN" dirty="0"/>
          </a:p>
        </p:txBody>
      </p:sp>
    </p:spTree>
    <p:extLst>
      <p:ext uri="{BB962C8B-B14F-4D97-AF65-F5344CB8AC3E}">
        <p14:creationId xmlns:p14="http://schemas.microsoft.com/office/powerpoint/2010/main" val="335335529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540"/>
            <a:ext cx="10515600" cy="1325563"/>
          </a:xfrm>
        </p:spPr>
        <p:txBody>
          <a:bodyPr/>
          <a:lstStyle/>
          <a:p>
            <a:r>
              <a:rPr lang="en-US" dirty="0" smtClean="0"/>
              <a:t>Exploratory Data Analysis</a:t>
            </a:r>
            <a:endParaRPr lang="en-IN"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6181" y="1469571"/>
            <a:ext cx="9404298" cy="4514849"/>
          </a:xfrm>
          <a:prstGeom prst="rect">
            <a:avLst/>
          </a:prstGeom>
        </p:spPr>
      </p:pic>
      <p:sp>
        <p:nvSpPr>
          <p:cNvPr id="4" name="TextBox 3"/>
          <p:cNvSpPr txBox="1"/>
          <p:nvPr/>
        </p:nvSpPr>
        <p:spPr>
          <a:xfrm>
            <a:off x="3184071" y="1820637"/>
            <a:ext cx="6678386" cy="1477328"/>
          </a:xfrm>
          <a:prstGeom prst="rect">
            <a:avLst/>
          </a:prstGeom>
          <a:solidFill>
            <a:srgbClr val="002060"/>
          </a:solidFill>
        </p:spPr>
        <p:txBody>
          <a:bodyPr wrap="square" rtlCol="0">
            <a:spAutoFit/>
          </a:bodyPr>
          <a:lstStyle/>
          <a:p>
            <a:pPr marL="285750" indent="-285750">
              <a:buFont typeface="Arial" panose="020B0604020202020204" pitchFamily="34" charset="0"/>
              <a:buChar char="•"/>
            </a:pPr>
            <a:r>
              <a:rPr lang="en-US" dirty="0" smtClean="0">
                <a:solidFill>
                  <a:schemeClr val="bg1"/>
                </a:solidFill>
              </a:rPr>
              <a:t>74 assignment groups</a:t>
            </a:r>
          </a:p>
          <a:p>
            <a:pPr marL="285750" indent="-285750">
              <a:buFont typeface="Arial" panose="020B0604020202020204" pitchFamily="34" charset="0"/>
              <a:buChar char="•"/>
            </a:pPr>
            <a:r>
              <a:rPr lang="en-US" dirty="0" smtClean="0">
                <a:solidFill>
                  <a:schemeClr val="bg1"/>
                </a:solidFill>
              </a:rPr>
              <a:t>8500 observations (8 observations with NULL values</a:t>
            </a:r>
          </a:p>
          <a:p>
            <a:pPr marL="285750" indent="-285750">
              <a:buFont typeface="Arial" panose="020B0604020202020204" pitchFamily="34" charset="0"/>
              <a:buChar char="•"/>
            </a:pPr>
            <a:r>
              <a:rPr lang="en-US" dirty="0" smtClean="0">
                <a:solidFill>
                  <a:schemeClr val="bg1"/>
                </a:solidFill>
              </a:rPr>
              <a:t>Many of the groups have very few observations (single digits)</a:t>
            </a:r>
          </a:p>
          <a:p>
            <a:pPr marL="285750" indent="-285750">
              <a:buFont typeface="Arial" panose="020B0604020202020204" pitchFamily="34" charset="0"/>
              <a:buChar char="•"/>
            </a:pPr>
            <a:r>
              <a:rPr lang="en-US" dirty="0" smtClean="0">
                <a:solidFill>
                  <a:schemeClr val="bg1"/>
                </a:solidFill>
              </a:rPr>
              <a:t>Top 5-10 groups prominent. They seem to cover almost 90% of the observations</a:t>
            </a:r>
            <a:endParaRPr lang="en-IN" dirty="0">
              <a:solidFill>
                <a:schemeClr val="bg1"/>
              </a:solidFill>
            </a:endParaRPr>
          </a:p>
        </p:txBody>
      </p:sp>
      <p:sp>
        <p:nvSpPr>
          <p:cNvPr id="6" name="TextBox 5"/>
          <p:cNvSpPr txBox="1"/>
          <p:nvPr/>
        </p:nvSpPr>
        <p:spPr>
          <a:xfrm>
            <a:off x="3200401" y="3429002"/>
            <a:ext cx="6662056" cy="1754326"/>
          </a:xfrm>
          <a:prstGeom prst="rect">
            <a:avLst/>
          </a:prstGeom>
          <a:solidFill>
            <a:srgbClr val="002060"/>
          </a:solidFill>
        </p:spPr>
        <p:txBody>
          <a:bodyPr wrap="square" rtlCol="0">
            <a:spAutoFit/>
          </a:bodyPr>
          <a:lstStyle/>
          <a:p>
            <a:pPr marL="285750" indent="-285750">
              <a:buFont typeface="Arial" panose="020B0604020202020204" pitchFamily="34" charset="0"/>
              <a:buChar char="•"/>
            </a:pPr>
            <a:r>
              <a:rPr lang="en-US" dirty="0" smtClean="0">
                <a:solidFill>
                  <a:schemeClr val="bg1"/>
                </a:solidFill>
              </a:rPr>
              <a:t>Dataset is highly unbalanced. </a:t>
            </a:r>
          </a:p>
          <a:p>
            <a:pPr marL="285750" indent="-285750">
              <a:buFont typeface="Arial" panose="020B0604020202020204" pitchFamily="34" charset="0"/>
              <a:buChar char="•"/>
            </a:pPr>
            <a:r>
              <a:rPr lang="en-US" dirty="0" smtClean="0">
                <a:solidFill>
                  <a:schemeClr val="bg1"/>
                </a:solidFill>
              </a:rPr>
              <a:t>The observations and not </a:t>
            </a:r>
            <a:r>
              <a:rPr lang="en-US" dirty="0" err="1" smtClean="0">
                <a:solidFill>
                  <a:schemeClr val="bg1"/>
                </a:solidFill>
              </a:rPr>
              <a:t>uniformally</a:t>
            </a:r>
            <a:r>
              <a:rPr lang="en-US" dirty="0" smtClean="0">
                <a:solidFill>
                  <a:schemeClr val="bg1"/>
                </a:solidFill>
              </a:rPr>
              <a:t> distributed among assignment groups</a:t>
            </a:r>
          </a:p>
          <a:p>
            <a:pPr marL="285750" indent="-285750">
              <a:buFont typeface="Arial" panose="020B0604020202020204" pitchFamily="34" charset="0"/>
              <a:buChar char="•"/>
            </a:pPr>
            <a:r>
              <a:rPr lang="en-US" dirty="0" smtClean="0">
                <a:solidFill>
                  <a:schemeClr val="bg1"/>
                </a:solidFill>
              </a:rPr>
              <a:t> The model cannot learn reasonably well across various groups</a:t>
            </a:r>
          </a:p>
          <a:p>
            <a:pPr marL="285750" indent="-285750">
              <a:buFont typeface="Arial" panose="020B0604020202020204" pitchFamily="34" charset="0"/>
              <a:buChar char="•"/>
            </a:pPr>
            <a:r>
              <a:rPr lang="en-US" dirty="0" smtClean="0">
                <a:solidFill>
                  <a:schemeClr val="bg1"/>
                </a:solidFill>
              </a:rPr>
              <a:t>We will require other techniques for labelling  and assignment of the group  </a:t>
            </a:r>
            <a:endParaRPr lang="en-IN" dirty="0">
              <a:solidFill>
                <a:schemeClr val="bg1"/>
              </a:solidFill>
            </a:endParaRPr>
          </a:p>
        </p:txBody>
      </p:sp>
      <p:sp>
        <p:nvSpPr>
          <p:cNvPr id="7" name="Oval 6"/>
          <p:cNvSpPr/>
          <p:nvPr/>
        </p:nvSpPr>
        <p:spPr>
          <a:xfrm>
            <a:off x="4604658" y="5314366"/>
            <a:ext cx="5755822" cy="49044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Oval 7"/>
          <p:cNvSpPr/>
          <p:nvPr/>
        </p:nvSpPr>
        <p:spPr>
          <a:xfrm>
            <a:off x="762002" y="1559382"/>
            <a:ext cx="1809748" cy="416378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56108380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540"/>
            <a:ext cx="10515600" cy="1120775"/>
          </a:xfrm>
        </p:spPr>
        <p:txBody>
          <a:bodyPr/>
          <a:lstStyle/>
          <a:p>
            <a:r>
              <a:rPr lang="en-US" dirty="0" smtClean="0"/>
              <a:t>Data Set Preparation and Topic Modelling</a:t>
            </a:r>
            <a:endParaRPr lang="en-IN" dirty="0"/>
          </a:p>
        </p:txBody>
      </p:sp>
      <p:sp>
        <p:nvSpPr>
          <p:cNvPr id="4" name="TextBox 3"/>
          <p:cNvSpPr txBox="1"/>
          <p:nvPr/>
        </p:nvSpPr>
        <p:spPr>
          <a:xfrm>
            <a:off x="775607" y="1208315"/>
            <a:ext cx="9086850" cy="5355312"/>
          </a:xfrm>
          <a:prstGeom prst="rect">
            <a:avLst/>
          </a:prstGeom>
          <a:solidFill>
            <a:srgbClr val="002060"/>
          </a:solidFill>
        </p:spPr>
        <p:txBody>
          <a:bodyPr wrap="square" rtlCol="0">
            <a:spAutoFit/>
          </a:bodyPr>
          <a:lstStyle/>
          <a:p>
            <a:r>
              <a:rPr lang="en-US" u="sng" dirty="0" smtClean="0">
                <a:solidFill>
                  <a:schemeClr val="bg1"/>
                </a:solidFill>
              </a:rPr>
              <a:t>Data Cleaning :</a:t>
            </a:r>
          </a:p>
          <a:p>
            <a:pPr marL="285750" indent="-285750">
              <a:buFont typeface="Arial" panose="020B0604020202020204" pitchFamily="34" charset="0"/>
              <a:buChar char="•"/>
            </a:pPr>
            <a:r>
              <a:rPr lang="en-US" dirty="0" smtClean="0">
                <a:solidFill>
                  <a:schemeClr val="bg1"/>
                </a:solidFill>
              </a:rPr>
              <a:t>Remove e-mail addresses</a:t>
            </a:r>
          </a:p>
          <a:p>
            <a:pPr marL="285750" indent="-285750">
              <a:buFont typeface="Arial" panose="020B0604020202020204" pitchFamily="34" charset="0"/>
              <a:buChar char="•"/>
            </a:pPr>
            <a:r>
              <a:rPr lang="en-US" dirty="0" smtClean="0">
                <a:solidFill>
                  <a:schemeClr val="bg1"/>
                </a:solidFill>
              </a:rPr>
              <a:t>Remove punctuation marks, special characters</a:t>
            </a:r>
          </a:p>
          <a:p>
            <a:pPr marL="285750" indent="-285750">
              <a:buFont typeface="Arial" panose="020B0604020202020204" pitchFamily="34" charset="0"/>
              <a:buChar char="•"/>
            </a:pPr>
            <a:r>
              <a:rPr lang="en-US" dirty="0" smtClean="0">
                <a:solidFill>
                  <a:schemeClr val="bg1"/>
                </a:solidFill>
              </a:rPr>
              <a:t>Remove digits, new line characters, spaces </a:t>
            </a:r>
          </a:p>
          <a:p>
            <a:r>
              <a:rPr lang="en-US" dirty="0" smtClean="0">
                <a:solidFill>
                  <a:schemeClr val="bg1"/>
                </a:solidFill>
              </a:rPr>
              <a:t>Etc..</a:t>
            </a:r>
          </a:p>
          <a:p>
            <a:endParaRPr lang="en-US" dirty="0">
              <a:solidFill>
                <a:schemeClr val="bg1"/>
              </a:solidFill>
            </a:endParaRPr>
          </a:p>
          <a:p>
            <a:r>
              <a:rPr lang="en-US" u="sng" dirty="0" smtClean="0">
                <a:solidFill>
                  <a:schemeClr val="bg1"/>
                </a:solidFill>
              </a:rPr>
              <a:t>Data Preprocessing:</a:t>
            </a:r>
          </a:p>
          <a:p>
            <a:pPr marL="285750" indent="-285750">
              <a:buFont typeface="Arial" panose="020B0604020202020204" pitchFamily="34" charset="0"/>
              <a:buChar char="•"/>
            </a:pPr>
            <a:r>
              <a:rPr lang="en-US" dirty="0" smtClean="0">
                <a:solidFill>
                  <a:schemeClr val="bg1"/>
                </a:solidFill>
              </a:rPr>
              <a:t>Tokenization </a:t>
            </a:r>
          </a:p>
          <a:p>
            <a:pPr marL="285750" indent="-285750">
              <a:buFont typeface="Arial" panose="020B0604020202020204" pitchFamily="34" charset="0"/>
              <a:buChar char="•"/>
            </a:pPr>
            <a:r>
              <a:rPr lang="en-US" dirty="0" smtClean="0">
                <a:solidFill>
                  <a:schemeClr val="bg1"/>
                </a:solidFill>
              </a:rPr>
              <a:t>Removal of stop words</a:t>
            </a:r>
          </a:p>
          <a:p>
            <a:pPr marL="285750" indent="-285750">
              <a:buFont typeface="Arial" panose="020B0604020202020204" pitchFamily="34" charset="0"/>
              <a:buChar char="•"/>
            </a:pPr>
            <a:r>
              <a:rPr lang="en-US" dirty="0" smtClean="0">
                <a:solidFill>
                  <a:schemeClr val="bg1"/>
                </a:solidFill>
              </a:rPr>
              <a:t>Lemmatization </a:t>
            </a:r>
          </a:p>
          <a:p>
            <a:pPr marL="285750" indent="-285750">
              <a:buFont typeface="Arial" panose="020B0604020202020204" pitchFamily="34" charset="0"/>
              <a:buChar char="•"/>
            </a:pPr>
            <a:r>
              <a:rPr lang="en-US" dirty="0" smtClean="0">
                <a:solidFill>
                  <a:schemeClr val="bg1"/>
                </a:solidFill>
              </a:rPr>
              <a:t>Preparing dictionary of the words</a:t>
            </a:r>
          </a:p>
          <a:p>
            <a:pPr marL="285750" indent="-285750">
              <a:buFont typeface="Arial" panose="020B0604020202020204" pitchFamily="34" charset="0"/>
              <a:buChar char="•"/>
            </a:pPr>
            <a:r>
              <a:rPr lang="en-US" dirty="0" smtClean="0">
                <a:solidFill>
                  <a:schemeClr val="bg1"/>
                </a:solidFill>
              </a:rPr>
              <a:t>Text vectorization (Bag of words , TF-IDF)</a:t>
            </a:r>
          </a:p>
          <a:p>
            <a:pPr marL="285750" indent="-285750">
              <a:buFont typeface="Arial" panose="020B0604020202020204" pitchFamily="34" charset="0"/>
              <a:buChar char="•"/>
            </a:pPr>
            <a:r>
              <a:rPr lang="en-US" dirty="0" smtClean="0">
                <a:solidFill>
                  <a:schemeClr val="bg1"/>
                </a:solidFill>
              </a:rPr>
              <a:t>Prepare corpus </a:t>
            </a:r>
          </a:p>
          <a:p>
            <a:endParaRPr lang="en-US" dirty="0" smtClean="0">
              <a:solidFill>
                <a:schemeClr val="bg1"/>
              </a:solidFill>
            </a:endParaRPr>
          </a:p>
          <a:p>
            <a:r>
              <a:rPr lang="en-US" u="sng" dirty="0" smtClean="0">
                <a:solidFill>
                  <a:schemeClr val="bg1"/>
                </a:solidFill>
              </a:rPr>
              <a:t>Topic Modelling:</a:t>
            </a:r>
          </a:p>
          <a:p>
            <a:pPr marL="285750" indent="-285750">
              <a:buFont typeface="Arial" panose="020B0604020202020204" pitchFamily="34" charset="0"/>
              <a:buChar char="•"/>
            </a:pPr>
            <a:r>
              <a:rPr lang="en-US" dirty="0" smtClean="0">
                <a:solidFill>
                  <a:schemeClr val="bg1"/>
                </a:solidFill>
              </a:rPr>
              <a:t>Build  model for topic modelling (LDA model)</a:t>
            </a:r>
          </a:p>
          <a:p>
            <a:pPr marL="285750" indent="-285750">
              <a:buFont typeface="Arial" panose="020B0604020202020204" pitchFamily="34" charset="0"/>
              <a:buChar char="•"/>
            </a:pPr>
            <a:r>
              <a:rPr lang="en-US" dirty="0" smtClean="0">
                <a:solidFill>
                  <a:schemeClr val="bg1"/>
                </a:solidFill>
              </a:rPr>
              <a:t>Parameter tuning for distinct clusters of topics </a:t>
            </a:r>
          </a:p>
          <a:p>
            <a:endParaRPr lang="en-US" dirty="0" smtClean="0">
              <a:solidFill>
                <a:schemeClr val="bg1"/>
              </a:solidFill>
            </a:endParaRPr>
          </a:p>
          <a:p>
            <a:pPr marL="285750" indent="-285750">
              <a:buFont typeface="Arial" panose="020B0604020202020204" pitchFamily="34" charset="0"/>
              <a:buChar char="•"/>
            </a:pPr>
            <a:endParaRPr lang="en-IN" dirty="0">
              <a:solidFill>
                <a:schemeClr val="bg1"/>
              </a:solidFill>
            </a:endParaRPr>
          </a:p>
        </p:txBody>
      </p:sp>
    </p:spTree>
    <p:extLst>
      <p:ext uri="{BB962C8B-B14F-4D97-AF65-F5344CB8AC3E}">
        <p14:creationId xmlns:p14="http://schemas.microsoft.com/office/powerpoint/2010/main" val="22623396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540"/>
            <a:ext cx="10515600" cy="1120775"/>
          </a:xfrm>
        </p:spPr>
        <p:txBody>
          <a:bodyPr/>
          <a:lstStyle/>
          <a:p>
            <a:r>
              <a:rPr lang="en-US" dirty="0" smtClean="0"/>
              <a:t>Data Set Preparation and Topic Modelling</a:t>
            </a:r>
            <a:endParaRPr lang="en-IN" dirty="0"/>
          </a:p>
        </p:txBody>
      </p:sp>
      <p:sp>
        <p:nvSpPr>
          <p:cNvPr id="4" name="TextBox 3"/>
          <p:cNvSpPr txBox="1"/>
          <p:nvPr/>
        </p:nvSpPr>
        <p:spPr>
          <a:xfrm>
            <a:off x="832757" y="1208315"/>
            <a:ext cx="9086850" cy="5016758"/>
          </a:xfrm>
          <a:prstGeom prst="rect">
            <a:avLst/>
          </a:prstGeom>
          <a:solidFill>
            <a:srgbClr val="002060"/>
          </a:solidFill>
        </p:spPr>
        <p:txBody>
          <a:bodyPr wrap="square" rtlCol="0">
            <a:spAutoFit/>
          </a:bodyPr>
          <a:lstStyle/>
          <a:p>
            <a:r>
              <a:rPr lang="en-US" sz="1600" i="1" dirty="0">
                <a:solidFill>
                  <a:schemeClr val="bg1"/>
                </a:solidFill>
              </a:rPr>
              <a:t>For grammatical reasons, documents use different forms of a word, such as organize, organizes, and organizing. Additionally, there are families of derivationally related words with similar meanings, such as democracy, democratic, and democratization. In many situations, it seems as if it would be useful for a search for one of these words to return documents that contain another word in the set</a:t>
            </a:r>
            <a:r>
              <a:rPr lang="en-US" sz="1600" i="1" dirty="0" smtClean="0">
                <a:solidFill>
                  <a:schemeClr val="bg1"/>
                </a:solidFill>
              </a:rPr>
              <a:t>.</a:t>
            </a:r>
          </a:p>
          <a:p>
            <a:endParaRPr lang="en-US" sz="1600" i="1" dirty="0">
              <a:solidFill>
                <a:schemeClr val="bg1"/>
              </a:solidFill>
            </a:endParaRPr>
          </a:p>
          <a:p>
            <a:r>
              <a:rPr lang="en-US" sz="1600" i="1" u="sng" dirty="0">
                <a:solidFill>
                  <a:schemeClr val="bg1"/>
                </a:solidFill>
              </a:rPr>
              <a:t>FEATURE EXTRACTION</a:t>
            </a:r>
          </a:p>
          <a:p>
            <a:r>
              <a:rPr lang="en-US" sz="1600" i="1" dirty="0">
                <a:solidFill>
                  <a:schemeClr val="bg1"/>
                </a:solidFill>
              </a:rPr>
              <a:t>Need of feature extraction techniques The main problem in working with language processing is that machine learning algorithms cannot work on the raw text directly. So, we need some feature extraction techniques to convert text into a matrix(or vector) of features. Some of the most popular methods of feature extraction are </a:t>
            </a:r>
            <a:r>
              <a:rPr lang="en-US" sz="1600" i="1" dirty="0" smtClean="0">
                <a:solidFill>
                  <a:schemeClr val="bg1"/>
                </a:solidFill>
              </a:rPr>
              <a:t>:</a:t>
            </a:r>
          </a:p>
          <a:p>
            <a:endParaRPr lang="en-US" sz="1600" i="1" dirty="0">
              <a:solidFill>
                <a:schemeClr val="bg1"/>
              </a:solidFill>
            </a:endParaRPr>
          </a:p>
          <a:p>
            <a:pPr marL="285750" indent="-285750">
              <a:buFont typeface="Arial" panose="020B0604020202020204" pitchFamily="34" charset="0"/>
              <a:buChar char="•"/>
            </a:pPr>
            <a:r>
              <a:rPr lang="en-US" sz="1600" i="1" dirty="0">
                <a:solidFill>
                  <a:schemeClr val="bg1"/>
                </a:solidFill>
              </a:rPr>
              <a:t>Bag-of-Words</a:t>
            </a:r>
          </a:p>
          <a:p>
            <a:pPr marL="285750" indent="-285750">
              <a:buFont typeface="Arial" panose="020B0604020202020204" pitchFamily="34" charset="0"/>
              <a:buChar char="•"/>
            </a:pPr>
            <a:r>
              <a:rPr lang="en-US" sz="1600" i="1" dirty="0" smtClean="0">
                <a:solidFill>
                  <a:schemeClr val="bg1"/>
                </a:solidFill>
              </a:rPr>
              <a:t>TF-IDF</a:t>
            </a:r>
          </a:p>
          <a:p>
            <a:pPr marL="285750" indent="-285750">
              <a:buFont typeface="Arial" panose="020B0604020202020204" pitchFamily="34" charset="0"/>
              <a:buChar char="•"/>
            </a:pPr>
            <a:r>
              <a:rPr lang="en-US" sz="1600" i="1" dirty="0" smtClean="0">
                <a:solidFill>
                  <a:schemeClr val="bg1"/>
                </a:solidFill>
              </a:rPr>
              <a:t>Word2vec</a:t>
            </a:r>
          </a:p>
          <a:p>
            <a:pPr marL="285750" indent="-285750">
              <a:buFont typeface="Arial" panose="020B0604020202020204" pitchFamily="34" charset="0"/>
              <a:buChar char="•"/>
            </a:pPr>
            <a:r>
              <a:rPr lang="en-US" sz="1600" i="1" smtClean="0">
                <a:solidFill>
                  <a:schemeClr val="bg1"/>
                </a:solidFill>
              </a:rPr>
              <a:t>Glove</a:t>
            </a:r>
          </a:p>
          <a:p>
            <a:pPr marL="285750" indent="-285750">
              <a:buFont typeface="Arial" panose="020B0604020202020204" pitchFamily="34" charset="0"/>
              <a:buChar char="•"/>
            </a:pPr>
            <a:endParaRPr lang="en-US" sz="1600" i="1" dirty="0">
              <a:solidFill>
                <a:schemeClr val="bg1"/>
              </a:solidFill>
            </a:endParaRPr>
          </a:p>
          <a:p>
            <a:r>
              <a:rPr lang="en-US" sz="1600" i="1" dirty="0">
                <a:solidFill>
                  <a:schemeClr val="bg1"/>
                </a:solidFill>
              </a:rPr>
              <a:t>Bag of Words: Bag-of-Words is one of the most fundamental methods to transform tokens into a set of features. The </a:t>
            </a:r>
            <a:r>
              <a:rPr lang="en-US" sz="1600" i="1" dirty="0" err="1">
                <a:solidFill>
                  <a:schemeClr val="bg1"/>
                </a:solidFill>
              </a:rPr>
              <a:t>BoW</a:t>
            </a:r>
            <a:r>
              <a:rPr lang="en-US" sz="1600" i="1" dirty="0">
                <a:solidFill>
                  <a:schemeClr val="bg1"/>
                </a:solidFill>
              </a:rPr>
              <a:t> model is used in document classification, where each word is used as a feature for training the classifier. We'll also use Bag-of-words for feature extraction and for LDA. We'll also use TF-IDF to validate the LDA of </a:t>
            </a:r>
            <a:r>
              <a:rPr lang="en-US" sz="1600" i="1" dirty="0" smtClean="0">
                <a:solidFill>
                  <a:schemeClr val="bg1"/>
                </a:solidFill>
              </a:rPr>
              <a:t>Bag-of-words</a:t>
            </a:r>
            <a:endParaRPr lang="en-IN" sz="1600" dirty="0">
              <a:solidFill>
                <a:schemeClr val="bg1"/>
              </a:solidFill>
            </a:endParaRPr>
          </a:p>
        </p:txBody>
      </p:sp>
    </p:spTree>
    <p:extLst>
      <p:ext uri="{BB962C8B-B14F-4D97-AF65-F5344CB8AC3E}">
        <p14:creationId xmlns:p14="http://schemas.microsoft.com/office/powerpoint/2010/main" val="8507999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540"/>
            <a:ext cx="10515600" cy="1120775"/>
          </a:xfrm>
        </p:spPr>
        <p:txBody>
          <a:bodyPr/>
          <a:lstStyle/>
          <a:p>
            <a:r>
              <a:rPr lang="en-US" dirty="0" smtClean="0"/>
              <a:t>Data Set Preparation and Topic Modelling</a:t>
            </a:r>
            <a:endParaRPr lang="en-IN" dirty="0"/>
          </a:p>
        </p:txBody>
      </p:sp>
      <p:sp>
        <p:nvSpPr>
          <p:cNvPr id="4" name="TextBox 3"/>
          <p:cNvSpPr txBox="1"/>
          <p:nvPr/>
        </p:nvSpPr>
        <p:spPr>
          <a:xfrm>
            <a:off x="963385" y="1187088"/>
            <a:ext cx="9834155" cy="5170646"/>
          </a:xfrm>
          <a:prstGeom prst="rect">
            <a:avLst/>
          </a:prstGeom>
          <a:solidFill>
            <a:srgbClr val="002060"/>
          </a:solidFill>
        </p:spPr>
        <p:txBody>
          <a:bodyPr wrap="square" rtlCol="0">
            <a:spAutoFit/>
          </a:bodyPr>
          <a:lstStyle/>
          <a:p>
            <a:r>
              <a:rPr lang="en-US" b="1" i="1" dirty="0">
                <a:solidFill>
                  <a:schemeClr val="bg1"/>
                </a:solidFill>
              </a:rPr>
              <a:t>As we have seen </a:t>
            </a:r>
            <a:r>
              <a:rPr lang="en-US" b="1" i="1" dirty="0" smtClean="0">
                <a:solidFill>
                  <a:schemeClr val="bg1"/>
                </a:solidFill>
              </a:rPr>
              <a:t>previously </a:t>
            </a:r>
            <a:r>
              <a:rPr lang="en-US" b="1" i="1" dirty="0">
                <a:solidFill>
                  <a:schemeClr val="bg1"/>
                </a:solidFill>
              </a:rPr>
              <a:t>that with 74 groups , we could not really justify a model which can be used to AUTOMATICALLY assign the tickets to a group with accuracy better than the current ITSP process. Manual trial and error of regrouping didn't help either</a:t>
            </a:r>
            <a:r>
              <a:rPr lang="en-US" b="1" i="1" dirty="0" smtClean="0">
                <a:solidFill>
                  <a:schemeClr val="bg1"/>
                </a:solidFill>
              </a:rPr>
              <a:t>.</a:t>
            </a:r>
          </a:p>
          <a:p>
            <a:endParaRPr lang="en-US" b="1" i="1" dirty="0">
              <a:solidFill>
                <a:schemeClr val="bg1"/>
              </a:solidFill>
            </a:endParaRPr>
          </a:p>
          <a:p>
            <a:pPr marL="285750" indent="-285750">
              <a:buFont typeface="Arial" panose="020B0604020202020204" pitchFamily="34" charset="0"/>
              <a:buChar char="•"/>
            </a:pPr>
            <a:r>
              <a:rPr lang="en-US" sz="1400" b="1" i="1" dirty="0">
                <a:solidFill>
                  <a:schemeClr val="bg1"/>
                </a:solidFill>
              </a:rPr>
              <a:t>Topic modeling is a machine learning technique that automatically analyzes text data to determine cluster words for a set of documents. This is known as ‘unsupervised’ machine learning because it doesn’t require a predefined list of tags or training data that’s been previously classified by humans.</a:t>
            </a:r>
          </a:p>
          <a:p>
            <a:pPr marL="285750" indent="-285750">
              <a:buFont typeface="Arial" panose="020B0604020202020204" pitchFamily="34" charset="0"/>
              <a:buChar char="•"/>
            </a:pPr>
            <a:r>
              <a:rPr lang="en-US" sz="1400" b="1" i="1" dirty="0">
                <a:solidFill>
                  <a:schemeClr val="bg1"/>
                </a:solidFill>
              </a:rPr>
              <a:t>Topic modeling involves counting words and grouping similar word patterns to infer topics within unstructured data. Instead of spending hours going through heaps of text feedback, in an attempt to deduce which texts are talking about our topics of interest, we could analyze them with a topic modeling algorithm.</a:t>
            </a:r>
          </a:p>
          <a:p>
            <a:pPr marL="285750" indent="-285750">
              <a:buFont typeface="Arial" panose="020B0604020202020204" pitchFamily="34" charset="0"/>
              <a:buChar char="•"/>
            </a:pPr>
            <a:r>
              <a:rPr lang="en-US" sz="1400" b="1" i="1" dirty="0">
                <a:solidFill>
                  <a:schemeClr val="bg1"/>
                </a:solidFill>
              </a:rPr>
              <a:t>Topic modeling algorithms churn out collections of expressions and words that it thinks are related, leaving US to figure out what these relations means</a:t>
            </a:r>
          </a:p>
          <a:p>
            <a:pPr marL="285750" indent="-285750">
              <a:buFont typeface="Arial" panose="020B0604020202020204" pitchFamily="34" charset="0"/>
              <a:buChar char="•"/>
            </a:pPr>
            <a:r>
              <a:rPr lang="en-US" sz="1400" b="1" i="1" dirty="0">
                <a:solidFill>
                  <a:schemeClr val="bg1"/>
                </a:solidFill>
              </a:rPr>
              <a:t>By detecting patterns such as word frequency and distance between words, a topic model clusters feedback that is similar, and words and expressions that appear most often. With this information, you can quickly deduce what each set of texts are talking about.</a:t>
            </a:r>
          </a:p>
          <a:p>
            <a:pPr marL="285750" indent="-285750">
              <a:buFont typeface="Arial" panose="020B0604020202020204" pitchFamily="34" charset="0"/>
              <a:buChar char="•"/>
            </a:pPr>
            <a:endParaRPr lang="en-US" sz="1400" b="1" dirty="0" smtClean="0">
              <a:solidFill>
                <a:schemeClr val="bg1"/>
              </a:solidFill>
            </a:endParaRPr>
          </a:p>
          <a:p>
            <a:r>
              <a:rPr lang="en-US" b="1" i="1" dirty="0">
                <a:solidFill>
                  <a:schemeClr val="bg1"/>
                </a:solidFill>
              </a:rPr>
              <a:t>So for </a:t>
            </a:r>
            <a:r>
              <a:rPr lang="en-US" b="1" i="1" dirty="0" smtClean="0">
                <a:solidFill>
                  <a:schemeClr val="bg1"/>
                </a:solidFill>
              </a:rPr>
              <a:t>our </a:t>
            </a:r>
            <a:r>
              <a:rPr lang="en-US" b="1" i="1" dirty="0">
                <a:solidFill>
                  <a:schemeClr val="bg1"/>
                </a:solidFill>
              </a:rPr>
              <a:t>project, we'll assume that whatever text data we have is NOT LABELLED and we'll use topic modelling to create the labels for us (WHICH CAN BE TREATED AS NEW ASSIGNMENT </a:t>
            </a:r>
            <a:r>
              <a:rPr lang="en-US" b="1" i="1" dirty="0" smtClean="0">
                <a:solidFill>
                  <a:schemeClr val="bg1"/>
                </a:solidFill>
              </a:rPr>
              <a:t>GROUP</a:t>
            </a:r>
          </a:p>
          <a:p>
            <a:endParaRPr lang="en-US" dirty="0">
              <a:solidFill>
                <a:schemeClr val="bg1"/>
              </a:solidFill>
            </a:endParaRPr>
          </a:p>
          <a:p>
            <a:r>
              <a:rPr lang="en-US" b="1" i="1" dirty="0">
                <a:solidFill>
                  <a:schemeClr val="bg1"/>
                </a:solidFill>
              </a:rPr>
              <a:t>We'll use Latent </a:t>
            </a:r>
            <a:r>
              <a:rPr lang="en-US" b="1" i="1" dirty="0" err="1">
                <a:solidFill>
                  <a:schemeClr val="bg1"/>
                </a:solidFill>
              </a:rPr>
              <a:t>Dirichlet</a:t>
            </a:r>
            <a:r>
              <a:rPr lang="en-US" b="1" i="1" dirty="0">
                <a:solidFill>
                  <a:schemeClr val="bg1"/>
                </a:solidFill>
              </a:rPr>
              <a:t> Allocation (LDA) modelling technique classify text in a document (data sets).</a:t>
            </a:r>
          </a:p>
          <a:p>
            <a:r>
              <a:rPr lang="en-US" b="1" i="1" dirty="0">
                <a:solidFill>
                  <a:schemeClr val="bg1"/>
                </a:solidFill>
              </a:rPr>
              <a:t>It will build a topic per document model and words per topic model, modeled as </a:t>
            </a:r>
            <a:r>
              <a:rPr lang="en-US" b="1" i="1" dirty="0" err="1">
                <a:solidFill>
                  <a:schemeClr val="bg1"/>
                </a:solidFill>
              </a:rPr>
              <a:t>Dirichlet</a:t>
            </a:r>
            <a:r>
              <a:rPr lang="en-US" b="1" i="1" dirty="0">
                <a:solidFill>
                  <a:schemeClr val="bg1"/>
                </a:solidFill>
              </a:rPr>
              <a:t> </a:t>
            </a:r>
            <a:r>
              <a:rPr lang="en-US" b="1" i="1" dirty="0" smtClean="0">
                <a:solidFill>
                  <a:schemeClr val="bg1"/>
                </a:solidFill>
              </a:rPr>
              <a:t>distributions</a:t>
            </a:r>
            <a:endParaRPr lang="en-IN" b="1" dirty="0">
              <a:solidFill>
                <a:schemeClr val="bg1"/>
              </a:solidFill>
            </a:endParaRPr>
          </a:p>
        </p:txBody>
      </p:sp>
    </p:spTree>
    <p:extLst>
      <p:ext uri="{BB962C8B-B14F-4D97-AF65-F5344CB8AC3E}">
        <p14:creationId xmlns:p14="http://schemas.microsoft.com/office/powerpoint/2010/main" val="369513531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540"/>
            <a:ext cx="10515600" cy="1120775"/>
          </a:xfrm>
        </p:spPr>
        <p:txBody>
          <a:bodyPr>
            <a:normAutofit/>
          </a:bodyPr>
          <a:lstStyle/>
          <a:p>
            <a:r>
              <a:rPr lang="en-US" dirty="0" smtClean="0"/>
              <a:t>Topic Model : 5 Topics 1#6</a:t>
            </a:r>
            <a:endParaRPr lang="en-IN" dirty="0"/>
          </a:p>
        </p:txBody>
      </p:sp>
      <p:pic>
        <p:nvPicPr>
          <p:cNvPr id="4" name="Picture 3"/>
          <p:cNvPicPr>
            <a:picLocks noChangeAspect="1"/>
          </p:cNvPicPr>
          <p:nvPr/>
        </p:nvPicPr>
        <p:blipFill>
          <a:blip r:embed="rId2"/>
          <a:stretch>
            <a:fillRect/>
          </a:stretch>
        </p:blipFill>
        <p:spPr>
          <a:xfrm>
            <a:off x="891250" y="1122746"/>
            <a:ext cx="9525965" cy="4863690"/>
          </a:xfrm>
          <a:prstGeom prst="rect">
            <a:avLst/>
          </a:prstGeom>
        </p:spPr>
      </p:pic>
    </p:spTree>
    <p:extLst>
      <p:ext uri="{BB962C8B-B14F-4D97-AF65-F5344CB8AC3E}">
        <p14:creationId xmlns:p14="http://schemas.microsoft.com/office/powerpoint/2010/main" val="293552354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540"/>
            <a:ext cx="10515600" cy="1120775"/>
          </a:xfrm>
        </p:spPr>
        <p:txBody>
          <a:bodyPr>
            <a:normAutofit/>
          </a:bodyPr>
          <a:lstStyle/>
          <a:p>
            <a:r>
              <a:rPr lang="en-US" dirty="0" smtClean="0"/>
              <a:t>Topic Model : 10 Topics  2#6</a:t>
            </a:r>
            <a:endParaRPr lang="en-IN" dirty="0"/>
          </a:p>
        </p:txBody>
      </p:sp>
      <p:pic>
        <p:nvPicPr>
          <p:cNvPr id="4" name="Picture 3"/>
          <p:cNvPicPr>
            <a:picLocks noChangeAspect="1"/>
          </p:cNvPicPr>
          <p:nvPr/>
        </p:nvPicPr>
        <p:blipFill>
          <a:blip r:embed="rId2"/>
          <a:stretch>
            <a:fillRect/>
          </a:stretch>
        </p:blipFill>
        <p:spPr>
          <a:xfrm>
            <a:off x="815788" y="1290917"/>
            <a:ext cx="9574308" cy="4760259"/>
          </a:xfrm>
          <a:prstGeom prst="rect">
            <a:avLst/>
          </a:prstGeom>
        </p:spPr>
      </p:pic>
    </p:spTree>
    <p:extLst>
      <p:ext uri="{BB962C8B-B14F-4D97-AF65-F5344CB8AC3E}">
        <p14:creationId xmlns:p14="http://schemas.microsoft.com/office/powerpoint/2010/main" val="416338657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540"/>
            <a:ext cx="10515600" cy="1120775"/>
          </a:xfrm>
        </p:spPr>
        <p:txBody>
          <a:bodyPr>
            <a:normAutofit/>
          </a:bodyPr>
          <a:lstStyle/>
          <a:p>
            <a:r>
              <a:rPr lang="en-US" dirty="0" smtClean="0"/>
              <a:t>Topic Model : 4 Topics (Bag-of-words) 3#6</a:t>
            </a:r>
            <a:endParaRPr lang="en-IN" dirty="0"/>
          </a:p>
        </p:txBody>
      </p:sp>
      <p:pic>
        <p:nvPicPr>
          <p:cNvPr id="3" name="Picture 2"/>
          <p:cNvPicPr>
            <a:picLocks noChangeAspect="1"/>
          </p:cNvPicPr>
          <p:nvPr/>
        </p:nvPicPr>
        <p:blipFill>
          <a:blip r:embed="rId2"/>
          <a:stretch>
            <a:fillRect/>
          </a:stretch>
        </p:blipFill>
        <p:spPr>
          <a:xfrm>
            <a:off x="914400" y="1226542"/>
            <a:ext cx="10700657" cy="5163370"/>
          </a:xfrm>
          <a:prstGeom prst="rect">
            <a:avLst/>
          </a:prstGeom>
        </p:spPr>
      </p:pic>
    </p:spTree>
    <p:extLst>
      <p:ext uri="{BB962C8B-B14F-4D97-AF65-F5344CB8AC3E}">
        <p14:creationId xmlns:p14="http://schemas.microsoft.com/office/powerpoint/2010/main" val="161623844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581770" y="1153886"/>
            <a:ext cx="11120374" cy="5442858"/>
          </a:xfrm>
          <a:prstGeom prst="rect">
            <a:avLst/>
          </a:prstGeom>
        </p:spPr>
      </p:pic>
      <p:sp>
        <p:nvSpPr>
          <p:cNvPr id="5" name="Title 1"/>
          <p:cNvSpPr>
            <a:spLocks noGrp="1"/>
          </p:cNvSpPr>
          <p:nvPr>
            <p:ph type="title"/>
          </p:nvPr>
        </p:nvSpPr>
        <p:spPr>
          <a:xfrm>
            <a:off x="838200" y="87540"/>
            <a:ext cx="10515600" cy="1120775"/>
          </a:xfrm>
        </p:spPr>
        <p:txBody>
          <a:bodyPr>
            <a:normAutofit/>
          </a:bodyPr>
          <a:lstStyle/>
          <a:p>
            <a:r>
              <a:rPr lang="en-US" dirty="0" smtClean="0"/>
              <a:t>Topic Model : 4 Topics (Bag-of-words) 4#6</a:t>
            </a:r>
            <a:endParaRPr lang="en-IN" dirty="0"/>
          </a:p>
        </p:txBody>
      </p:sp>
    </p:spTree>
    <p:extLst>
      <p:ext uri="{BB962C8B-B14F-4D97-AF65-F5344CB8AC3E}">
        <p14:creationId xmlns:p14="http://schemas.microsoft.com/office/powerpoint/2010/main" val="86321644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838200" y="87540"/>
            <a:ext cx="10515600" cy="1120775"/>
          </a:xfrm>
        </p:spPr>
        <p:txBody>
          <a:bodyPr>
            <a:normAutofit/>
          </a:bodyPr>
          <a:lstStyle/>
          <a:p>
            <a:r>
              <a:rPr lang="en-US" dirty="0" smtClean="0"/>
              <a:t>Topic Model : 4 Topics (TF-IDF) 5#6</a:t>
            </a:r>
            <a:endParaRPr lang="en-IN" dirty="0"/>
          </a:p>
        </p:txBody>
      </p:sp>
      <p:pic>
        <p:nvPicPr>
          <p:cNvPr id="6" name="Picture 5"/>
          <p:cNvPicPr>
            <a:picLocks noChangeAspect="1"/>
          </p:cNvPicPr>
          <p:nvPr/>
        </p:nvPicPr>
        <p:blipFill>
          <a:blip r:embed="rId2"/>
          <a:stretch>
            <a:fillRect/>
          </a:stretch>
        </p:blipFill>
        <p:spPr>
          <a:xfrm>
            <a:off x="1020536" y="1208315"/>
            <a:ext cx="9633857" cy="5298620"/>
          </a:xfrm>
          <a:prstGeom prst="rect">
            <a:avLst/>
          </a:prstGeom>
        </p:spPr>
      </p:pic>
    </p:spTree>
    <p:extLst>
      <p:ext uri="{BB962C8B-B14F-4D97-AF65-F5344CB8AC3E}">
        <p14:creationId xmlns:p14="http://schemas.microsoft.com/office/powerpoint/2010/main" val="36736339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838200" y="87540"/>
            <a:ext cx="10515600" cy="1120775"/>
          </a:xfrm>
        </p:spPr>
        <p:txBody>
          <a:bodyPr>
            <a:normAutofit/>
          </a:bodyPr>
          <a:lstStyle/>
          <a:p>
            <a:r>
              <a:rPr lang="en-US" dirty="0" smtClean="0"/>
              <a:t>Topic Model : 4 Topics (TF-IDF) 6#6</a:t>
            </a:r>
            <a:endParaRPr lang="en-IN" dirty="0"/>
          </a:p>
        </p:txBody>
      </p:sp>
      <p:pic>
        <p:nvPicPr>
          <p:cNvPr id="6" name="Picture 5"/>
          <p:cNvPicPr>
            <a:picLocks noChangeAspect="1"/>
          </p:cNvPicPr>
          <p:nvPr/>
        </p:nvPicPr>
        <p:blipFill>
          <a:blip r:embed="rId2"/>
          <a:stretch>
            <a:fillRect/>
          </a:stretch>
        </p:blipFill>
        <p:spPr>
          <a:xfrm>
            <a:off x="955220" y="1134836"/>
            <a:ext cx="10097859" cy="5167993"/>
          </a:xfrm>
          <a:prstGeom prst="rect">
            <a:avLst/>
          </a:prstGeom>
        </p:spPr>
      </p:pic>
    </p:spTree>
    <p:extLst>
      <p:ext uri="{BB962C8B-B14F-4D97-AF65-F5344CB8AC3E}">
        <p14:creationId xmlns:p14="http://schemas.microsoft.com/office/powerpoint/2010/main" val="90994073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540"/>
            <a:ext cx="10515600" cy="1120775"/>
          </a:xfrm>
        </p:spPr>
        <p:txBody>
          <a:bodyPr>
            <a:normAutofit/>
          </a:bodyPr>
          <a:lstStyle/>
          <a:p>
            <a:r>
              <a:rPr lang="en-US" dirty="0" smtClean="0"/>
              <a:t>Word Cloud – LDA (Bag-of-words)</a:t>
            </a:r>
            <a:endParaRPr lang="en-IN" dirty="0"/>
          </a:p>
        </p:txBody>
      </p:sp>
      <p:pic>
        <p:nvPicPr>
          <p:cNvPr id="4" name="Picture 3"/>
          <p:cNvPicPr>
            <a:picLocks noChangeAspect="1"/>
          </p:cNvPicPr>
          <p:nvPr/>
        </p:nvPicPr>
        <p:blipFill>
          <a:blip r:embed="rId2"/>
          <a:stretch>
            <a:fillRect/>
          </a:stretch>
        </p:blipFill>
        <p:spPr>
          <a:xfrm>
            <a:off x="702129" y="1121229"/>
            <a:ext cx="7878535" cy="5334001"/>
          </a:xfrm>
          <a:prstGeom prst="rect">
            <a:avLst/>
          </a:prstGeom>
        </p:spPr>
      </p:pic>
      <p:sp>
        <p:nvSpPr>
          <p:cNvPr id="3" name="TextBox 2"/>
          <p:cNvSpPr txBox="1"/>
          <p:nvPr/>
        </p:nvSpPr>
        <p:spPr>
          <a:xfrm>
            <a:off x="8391839" y="1350248"/>
            <a:ext cx="3028950" cy="5017895"/>
          </a:xfrm>
          <a:prstGeom prst="rect">
            <a:avLst/>
          </a:prstGeom>
          <a:solidFill>
            <a:srgbClr val="002060"/>
          </a:solidFill>
        </p:spPr>
        <p:txBody>
          <a:bodyPr wrap="square" rtlCol="0">
            <a:noAutofit/>
          </a:bodyPr>
          <a:lstStyle/>
          <a:p>
            <a:endParaRPr lang="en-US" b="1" u="sng" dirty="0" smtClean="0">
              <a:solidFill>
                <a:schemeClr val="bg1"/>
              </a:solidFill>
            </a:endParaRPr>
          </a:p>
          <a:p>
            <a:r>
              <a:rPr lang="en-US" b="1" u="sng" dirty="0" smtClean="0">
                <a:solidFill>
                  <a:schemeClr val="bg1"/>
                </a:solidFill>
              </a:rPr>
              <a:t>Topic </a:t>
            </a:r>
            <a:r>
              <a:rPr lang="en-US" b="1" u="sng" dirty="0">
                <a:solidFill>
                  <a:schemeClr val="bg1"/>
                </a:solidFill>
              </a:rPr>
              <a:t>0</a:t>
            </a:r>
            <a:r>
              <a:rPr lang="en-US" sz="1600" dirty="0">
                <a:solidFill>
                  <a:schemeClr val="bg1"/>
                </a:solidFill>
              </a:rPr>
              <a:t>: seems to be related to problems about background jobs, status, issues etc</a:t>
            </a:r>
            <a:r>
              <a:rPr lang="en-US" sz="1600" dirty="0" smtClean="0">
                <a:solidFill>
                  <a:schemeClr val="bg1"/>
                </a:solidFill>
              </a:rPr>
              <a:t>.</a:t>
            </a:r>
          </a:p>
          <a:p>
            <a:endParaRPr lang="en-US" sz="1600" dirty="0">
              <a:solidFill>
                <a:schemeClr val="bg1"/>
              </a:solidFill>
            </a:endParaRPr>
          </a:p>
          <a:p>
            <a:r>
              <a:rPr lang="en-US" b="1" u="sng" dirty="0" smtClean="0">
                <a:solidFill>
                  <a:schemeClr val="bg1"/>
                </a:solidFill>
              </a:rPr>
              <a:t>Topic </a:t>
            </a:r>
            <a:r>
              <a:rPr lang="en-US" b="1" u="sng" dirty="0">
                <a:solidFill>
                  <a:schemeClr val="bg1"/>
                </a:solidFill>
              </a:rPr>
              <a:t>1</a:t>
            </a:r>
            <a:r>
              <a:rPr lang="en-US" sz="1600" dirty="0">
                <a:solidFill>
                  <a:schemeClr val="bg1"/>
                </a:solidFill>
              </a:rPr>
              <a:t> :seems to be related to general problems about user pcs (e.g. setup, services etc.)</a:t>
            </a:r>
          </a:p>
          <a:p>
            <a:endParaRPr lang="en-US" sz="1600" dirty="0" smtClean="0">
              <a:solidFill>
                <a:schemeClr val="bg1"/>
              </a:solidFill>
            </a:endParaRPr>
          </a:p>
          <a:p>
            <a:r>
              <a:rPr lang="en-US" b="1" u="sng" dirty="0" smtClean="0">
                <a:solidFill>
                  <a:schemeClr val="bg1"/>
                </a:solidFill>
              </a:rPr>
              <a:t>Topic </a:t>
            </a:r>
            <a:r>
              <a:rPr lang="en-US" b="1" u="sng" dirty="0">
                <a:solidFill>
                  <a:schemeClr val="bg1"/>
                </a:solidFill>
              </a:rPr>
              <a:t>2</a:t>
            </a:r>
            <a:r>
              <a:rPr lang="en-US" sz="1600" dirty="0">
                <a:solidFill>
                  <a:schemeClr val="bg1"/>
                </a:solidFill>
              </a:rPr>
              <a:t> :seems to be related to problems about communication problems (e.g. outlook, email, skype etc.)</a:t>
            </a:r>
          </a:p>
          <a:p>
            <a:endParaRPr lang="en-US" sz="1600" dirty="0" smtClean="0">
              <a:solidFill>
                <a:schemeClr val="bg1"/>
              </a:solidFill>
            </a:endParaRPr>
          </a:p>
          <a:p>
            <a:r>
              <a:rPr lang="en-US" b="1" u="sng" dirty="0" smtClean="0">
                <a:solidFill>
                  <a:schemeClr val="bg1"/>
                </a:solidFill>
              </a:rPr>
              <a:t>Topic </a:t>
            </a:r>
            <a:r>
              <a:rPr lang="en-US" b="1" u="sng" dirty="0">
                <a:solidFill>
                  <a:schemeClr val="bg1"/>
                </a:solidFill>
              </a:rPr>
              <a:t>3 </a:t>
            </a:r>
            <a:r>
              <a:rPr lang="en-US" sz="1600" dirty="0">
                <a:solidFill>
                  <a:schemeClr val="bg1"/>
                </a:solidFill>
              </a:rPr>
              <a:t>:seem to be </a:t>
            </a:r>
            <a:r>
              <a:rPr lang="en-US" sz="1600" dirty="0" smtClean="0">
                <a:solidFill>
                  <a:schemeClr val="bg1"/>
                </a:solidFill>
              </a:rPr>
              <a:t>related </a:t>
            </a:r>
            <a:r>
              <a:rPr lang="en-US" sz="1600" dirty="0">
                <a:solidFill>
                  <a:schemeClr val="bg1"/>
                </a:solidFill>
              </a:rPr>
              <a:t>to the problems arising out of applications (</a:t>
            </a:r>
            <a:r>
              <a:rPr lang="en-US" sz="1600" dirty="0" err="1">
                <a:solidFill>
                  <a:schemeClr val="bg1"/>
                </a:solidFill>
              </a:rPr>
              <a:t>erp</a:t>
            </a:r>
            <a:r>
              <a:rPr lang="en-US" sz="1600" dirty="0">
                <a:solidFill>
                  <a:schemeClr val="bg1"/>
                </a:solidFill>
              </a:rPr>
              <a:t>, </a:t>
            </a:r>
            <a:r>
              <a:rPr lang="en-US" sz="1600" dirty="0" err="1" smtClean="0">
                <a:solidFill>
                  <a:schemeClr val="bg1"/>
                </a:solidFill>
              </a:rPr>
              <a:t>crm</a:t>
            </a:r>
            <a:r>
              <a:rPr lang="en-US" sz="1600" dirty="0" smtClean="0">
                <a:solidFill>
                  <a:schemeClr val="bg1"/>
                </a:solidFill>
              </a:rPr>
              <a:t> </a:t>
            </a:r>
            <a:r>
              <a:rPr lang="en-US" sz="1600" dirty="0">
                <a:solidFill>
                  <a:schemeClr val="bg1"/>
                </a:solidFill>
              </a:rPr>
              <a:t>password reset locked etc</a:t>
            </a:r>
            <a:r>
              <a:rPr lang="en-US" sz="1600" dirty="0" smtClean="0">
                <a:solidFill>
                  <a:schemeClr val="bg1"/>
                </a:solidFill>
              </a:rPr>
              <a:t>.)</a:t>
            </a:r>
          </a:p>
          <a:p>
            <a:endParaRPr lang="en-IN" sz="1600" dirty="0">
              <a:solidFill>
                <a:schemeClr val="bg1"/>
              </a:solidFill>
            </a:endParaRPr>
          </a:p>
        </p:txBody>
      </p:sp>
    </p:spTree>
    <p:extLst>
      <p:ext uri="{BB962C8B-B14F-4D97-AF65-F5344CB8AC3E}">
        <p14:creationId xmlns:p14="http://schemas.microsoft.com/office/powerpoint/2010/main" val="38455820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838200" y="1102179"/>
            <a:ext cx="7309757" cy="5363935"/>
          </a:xfrm>
          <a:prstGeom prst="rect">
            <a:avLst/>
          </a:prstGeom>
        </p:spPr>
      </p:pic>
      <p:sp>
        <p:nvSpPr>
          <p:cNvPr id="5" name="Title 1"/>
          <p:cNvSpPr>
            <a:spLocks noGrp="1"/>
          </p:cNvSpPr>
          <p:nvPr>
            <p:ph type="title"/>
          </p:nvPr>
        </p:nvSpPr>
        <p:spPr>
          <a:xfrm>
            <a:off x="838200" y="87540"/>
            <a:ext cx="10515600" cy="1120775"/>
          </a:xfrm>
        </p:spPr>
        <p:txBody>
          <a:bodyPr>
            <a:normAutofit/>
          </a:bodyPr>
          <a:lstStyle/>
          <a:p>
            <a:r>
              <a:rPr lang="en-US" dirty="0" smtClean="0"/>
              <a:t>Word Cloud – LDA (Bag-of-words)</a:t>
            </a:r>
            <a:endParaRPr lang="en-IN" dirty="0"/>
          </a:p>
        </p:txBody>
      </p:sp>
      <p:sp>
        <p:nvSpPr>
          <p:cNvPr id="6" name="TextBox 5"/>
          <p:cNvSpPr txBox="1"/>
          <p:nvPr/>
        </p:nvSpPr>
        <p:spPr>
          <a:xfrm>
            <a:off x="8391839" y="1350248"/>
            <a:ext cx="3028950" cy="5017895"/>
          </a:xfrm>
          <a:prstGeom prst="rect">
            <a:avLst/>
          </a:prstGeom>
          <a:solidFill>
            <a:srgbClr val="002060"/>
          </a:solidFill>
        </p:spPr>
        <p:txBody>
          <a:bodyPr wrap="square" rtlCol="0">
            <a:noAutofit/>
          </a:bodyPr>
          <a:lstStyle/>
          <a:p>
            <a:endParaRPr lang="en-US" b="1" u="sng" dirty="0" smtClean="0">
              <a:solidFill>
                <a:schemeClr val="bg1"/>
              </a:solidFill>
            </a:endParaRPr>
          </a:p>
          <a:p>
            <a:r>
              <a:rPr lang="en-US" b="1" u="sng" dirty="0" smtClean="0">
                <a:solidFill>
                  <a:schemeClr val="bg1"/>
                </a:solidFill>
              </a:rPr>
              <a:t>Topic </a:t>
            </a:r>
            <a:r>
              <a:rPr lang="en-US" b="1" u="sng" dirty="0">
                <a:solidFill>
                  <a:schemeClr val="bg1"/>
                </a:solidFill>
              </a:rPr>
              <a:t>0</a:t>
            </a:r>
            <a:r>
              <a:rPr lang="en-US" sz="1600" dirty="0">
                <a:solidFill>
                  <a:schemeClr val="bg1"/>
                </a:solidFill>
              </a:rPr>
              <a:t>: seems to be related to problems about background jobs, status, issues etc</a:t>
            </a:r>
            <a:r>
              <a:rPr lang="en-US" sz="1600" dirty="0" smtClean="0">
                <a:solidFill>
                  <a:schemeClr val="bg1"/>
                </a:solidFill>
              </a:rPr>
              <a:t>.</a:t>
            </a:r>
          </a:p>
          <a:p>
            <a:endParaRPr lang="en-US" sz="1600" dirty="0">
              <a:solidFill>
                <a:schemeClr val="bg1"/>
              </a:solidFill>
            </a:endParaRPr>
          </a:p>
          <a:p>
            <a:r>
              <a:rPr lang="en-US" b="1" u="sng" dirty="0" smtClean="0">
                <a:solidFill>
                  <a:schemeClr val="bg1"/>
                </a:solidFill>
              </a:rPr>
              <a:t>Topic </a:t>
            </a:r>
            <a:r>
              <a:rPr lang="en-US" b="1" u="sng" dirty="0">
                <a:solidFill>
                  <a:schemeClr val="bg1"/>
                </a:solidFill>
              </a:rPr>
              <a:t>1</a:t>
            </a:r>
            <a:r>
              <a:rPr lang="en-US" sz="1600" dirty="0">
                <a:solidFill>
                  <a:schemeClr val="bg1"/>
                </a:solidFill>
              </a:rPr>
              <a:t> :seems to be related to general problems about user pcs (e.g. setup, services etc.)</a:t>
            </a:r>
          </a:p>
          <a:p>
            <a:endParaRPr lang="en-US" sz="1600" dirty="0" smtClean="0">
              <a:solidFill>
                <a:schemeClr val="bg1"/>
              </a:solidFill>
            </a:endParaRPr>
          </a:p>
          <a:p>
            <a:r>
              <a:rPr lang="en-US" b="1" u="sng" dirty="0" smtClean="0">
                <a:solidFill>
                  <a:schemeClr val="bg1"/>
                </a:solidFill>
              </a:rPr>
              <a:t>Topic </a:t>
            </a:r>
            <a:r>
              <a:rPr lang="en-US" b="1" u="sng" dirty="0">
                <a:solidFill>
                  <a:schemeClr val="bg1"/>
                </a:solidFill>
              </a:rPr>
              <a:t>2</a:t>
            </a:r>
            <a:r>
              <a:rPr lang="en-US" sz="1600" dirty="0">
                <a:solidFill>
                  <a:schemeClr val="bg1"/>
                </a:solidFill>
              </a:rPr>
              <a:t> :seems to be related to problems about communication problems (e.g. outlook, email, skype etc.)</a:t>
            </a:r>
          </a:p>
          <a:p>
            <a:endParaRPr lang="en-US" sz="1600" dirty="0" smtClean="0">
              <a:solidFill>
                <a:schemeClr val="bg1"/>
              </a:solidFill>
            </a:endParaRPr>
          </a:p>
          <a:p>
            <a:r>
              <a:rPr lang="en-US" b="1" u="sng" dirty="0" smtClean="0">
                <a:solidFill>
                  <a:schemeClr val="bg1"/>
                </a:solidFill>
              </a:rPr>
              <a:t>Topic </a:t>
            </a:r>
            <a:r>
              <a:rPr lang="en-US" b="1" u="sng" dirty="0">
                <a:solidFill>
                  <a:schemeClr val="bg1"/>
                </a:solidFill>
              </a:rPr>
              <a:t>3 </a:t>
            </a:r>
            <a:r>
              <a:rPr lang="en-US" sz="1600" dirty="0">
                <a:solidFill>
                  <a:schemeClr val="bg1"/>
                </a:solidFill>
              </a:rPr>
              <a:t>:seem to be </a:t>
            </a:r>
            <a:r>
              <a:rPr lang="en-US" sz="1600" dirty="0" smtClean="0">
                <a:solidFill>
                  <a:schemeClr val="bg1"/>
                </a:solidFill>
              </a:rPr>
              <a:t>related </a:t>
            </a:r>
            <a:r>
              <a:rPr lang="en-US" sz="1600" dirty="0">
                <a:solidFill>
                  <a:schemeClr val="bg1"/>
                </a:solidFill>
              </a:rPr>
              <a:t>to the problems arising out of applications (</a:t>
            </a:r>
            <a:r>
              <a:rPr lang="en-US" sz="1600" dirty="0" err="1">
                <a:solidFill>
                  <a:schemeClr val="bg1"/>
                </a:solidFill>
              </a:rPr>
              <a:t>erp</a:t>
            </a:r>
            <a:r>
              <a:rPr lang="en-US" sz="1600" dirty="0">
                <a:solidFill>
                  <a:schemeClr val="bg1"/>
                </a:solidFill>
              </a:rPr>
              <a:t>, </a:t>
            </a:r>
            <a:r>
              <a:rPr lang="en-US" sz="1600" dirty="0" err="1" smtClean="0">
                <a:solidFill>
                  <a:schemeClr val="bg1"/>
                </a:solidFill>
              </a:rPr>
              <a:t>crm</a:t>
            </a:r>
            <a:r>
              <a:rPr lang="en-US" sz="1600" dirty="0" smtClean="0">
                <a:solidFill>
                  <a:schemeClr val="bg1"/>
                </a:solidFill>
              </a:rPr>
              <a:t> </a:t>
            </a:r>
            <a:r>
              <a:rPr lang="en-US" sz="1600" dirty="0">
                <a:solidFill>
                  <a:schemeClr val="bg1"/>
                </a:solidFill>
              </a:rPr>
              <a:t>password reset locked etc</a:t>
            </a:r>
            <a:r>
              <a:rPr lang="en-US" sz="1600" dirty="0" smtClean="0">
                <a:solidFill>
                  <a:schemeClr val="bg1"/>
                </a:solidFill>
              </a:rPr>
              <a:t>.)</a:t>
            </a:r>
          </a:p>
          <a:p>
            <a:endParaRPr lang="en-IN" sz="1600" dirty="0">
              <a:solidFill>
                <a:schemeClr val="bg1"/>
              </a:solidFill>
            </a:endParaRPr>
          </a:p>
        </p:txBody>
      </p:sp>
    </p:spTree>
    <p:extLst>
      <p:ext uri="{BB962C8B-B14F-4D97-AF65-F5344CB8AC3E}">
        <p14:creationId xmlns:p14="http://schemas.microsoft.com/office/powerpoint/2010/main" val="234955053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838200" y="87540"/>
            <a:ext cx="10515600" cy="1120775"/>
          </a:xfrm>
        </p:spPr>
        <p:txBody>
          <a:bodyPr>
            <a:normAutofit/>
          </a:bodyPr>
          <a:lstStyle/>
          <a:p>
            <a:r>
              <a:rPr lang="en-US" dirty="0" smtClean="0"/>
              <a:t>Word Cloud – LDA (Bag-of-words)</a:t>
            </a:r>
            <a:endParaRPr lang="en-IN" dirty="0"/>
          </a:p>
        </p:txBody>
      </p:sp>
      <p:pic>
        <p:nvPicPr>
          <p:cNvPr id="2" name="Picture 1"/>
          <p:cNvPicPr>
            <a:picLocks noChangeAspect="1"/>
          </p:cNvPicPr>
          <p:nvPr/>
        </p:nvPicPr>
        <p:blipFill>
          <a:blip r:embed="rId2"/>
          <a:stretch>
            <a:fillRect/>
          </a:stretch>
        </p:blipFill>
        <p:spPr>
          <a:xfrm>
            <a:off x="806901" y="1483180"/>
            <a:ext cx="8141156" cy="3467100"/>
          </a:xfrm>
          <a:prstGeom prst="rect">
            <a:avLst/>
          </a:prstGeom>
        </p:spPr>
      </p:pic>
      <p:sp>
        <p:nvSpPr>
          <p:cNvPr id="4" name="Rectangle 3"/>
          <p:cNvSpPr/>
          <p:nvPr/>
        </p:nvSpPr>
        <p:spPr>
          <a:xfrm>
            <a:off x="938892" y="4950280"/>
            <a:ext cx="10254343" cy="1200329"/>
          </a:xfrm>
          <a:prstGeom prst="rect">
            <a:avLst/>
          </a:prstGeom>
          <a:solidFill>
            <a:srgbClr val="002060"/>
          </a:solidFill>
        </p:spPr>
        <p:txBody>
          <a:bodyPr wrap="square">
            <a:spAutoFit/>
          </a:bodyPr>
          <a:lstStyle/>
          <a:p>
            <a:r>
              <a:rPr lang="en-US" dirty="0">
                <a:solidFill>
                  <a:schemeClr val="bg1"/>
                </a:solidFill>
                <a:latin typeface="Helvetica Neue"/>
              </a:rPr>
              <a:t>Summary " Here we can see the </a:t>
            </a:r>
            <a:r>
              <a:rPr lang="en-US" dirty="0" smtClean="0">
                <a:solidFill>
                  <a:schemeClr val="bg1"/>
                </a:solidFill>
                <a:latin typeface="Helvetica Neue"/>
              </a:rPr>
              <a:t>distribution </a:t>
            </a:r>
            <a:r>
              <a:rPr lang="en-US" dirty="0">
                <a:solidFill>
                  <a:schemeClr val="bg1"/>
                </a:solidFill>
                <a:latin typeface="Helvetica Neue"/>
              </a:rPr>
              <a:t>of documents based on the new assignment groups. Still unbalanced but still much better as compared to the original one . Also the document counts per groups have </a:t>
            </a:r>
            <a:r>
              <a:rPr lang="en-US" dirty="0" smtClean="0">
                <a:solidFill>
                  <a:schemeClr val="bg1"/>
                </a:solidFill>
                <a:latin typeface="Helvetica Neue"/>
              </a:rPr>
              <a:t>decent </a:t>
            </a:r>
            <a:r>
              <a:rPr lang="en-US" dirty="0">
                <a:solidFill>
                  <a:schemeClr val="bg1"/>
                </a:solidFill>
                <a:latin typeface="Helvetica Neue"/>
              </a:rPr>
              <a:t>number of observations based on which we can train the model and get some meaningful model</a:t>
            </a:r>
            <a:endParaRPr lang="en-IN" dirty="0">
              <a:solidFill>
                <a:schemeClr val="bg1"/>
              </a:solidFill>
            </a:endParaRPr>
          </a:p>
        </p:txBody>
      </p:sp>
      <p:sp>
        <p:nvSpPr>
          <p:cNvPr id="9" name="TextBox 8"/>
          <p:cNvSpPr txBox="1"/>
          <p:nvPr/>
        </p:nvSpPr>
        <p:spPr>
          <a:xfrm flipH="1">
            <a:off x="2269669" y="3217032"/>
            <a:ext cx="718459" cy="276999"/>
          </a:xfrm>
          <a:prstGeom prst="rect">
            <a:avLst/>
          </a:prstGeom>
          <a:noFill/>
        </p:spPr>
        <p:txBody>
          <a:bodyPr wrap="square" rtlCol="0">
            <a:spAutoFit/>
          </a:bodyPr>
          <a:lstStyle/>
          <a:p>
            <a:r>
              <a:rPr lang="en-US" sz="1200" dirty="0" smtClean="0">
                <a:solidFill>
                  <a:schemeClr val="bg1"/>
                </a:solidFill>
              </a:rPr>
              <a:t>1464</a:t>
            </a:r>
            <a:endParaRPr lang="en-IN" sz="1200" dirty="0">
              <a:solidFill>
                <a:schemeClr val="bg1"/>
              </a:solidFill>
            </a:endParaRPr>
          </a:p>
        </p:txBody>
      </p:sp>
      <p:sp>
        <p:nvSpPr>
          <p:cNvPr id="13" name="TextBox 12"/>
          <p:cNvSpPr txBox="1"/>
          <p:nvPr/>
        </p:nvSpPr>
        <p:spPr>
          <a:xfrm>
            <a:off x="3899804" y="3306836"/>
            <a:ext cx="571500" cy="276999"/>
          </a:xfrm>
          <a:prstGeom prst="rect">
            <a:avLst/>
          </a:prstGeom>
          <a:noFill/>
        </p:spPr>
        <p:txBody>
          <a:bodyPr wrap="square" rtlCol="0">
            <a:spAutoFit/>
          </a:bodyPr>
          <a:lstStyle/>
          <a:p>
            <a:r>
              <a:rPr lang="en-US" sz="1200" dirty="0" smtClean="0">
                <a:solidFill>
                  <a:schemeClr val="bg1"/>
                </a:solidFill>
              </a:rPr>
              <a:t>1324</a:t>
            </a:r>
            <a:endParaRPr lang="en-IN" sz="1200" dirty="0">
              <a:solidFill>
                <a:schemeClr val="bg1"/>
              </a:solidFill>
            </a:endParaRPr>
          </a:p>
        </p:txBody>
      </p:sp>
      <p:sp>
        <p:nvSpPr>
          <p:cNvPr id="14" name="TextBox 13"/>
          <p:cNvSpPr txBox="1"/>
          <p:nvPr/>
        </p:nvSpPr>
        <p:spPr>
          <a:xfrm>
            <a:off x="3720193" y="1834249"/>
            <a:ext cx="571500" cy="276999"/>
          </a:xfrm>
          <a:prstGeom prst="rect">
            <a:avLst/>
          </a:prstGeom>
          <a:noFill/>
        </p:spPr>
        <p:txBody>
          <a:bodyPr wrap="square" rtlCol="0">
            <a:spAutoFit/>
          </a:bodyPr>
          <a:lstStyle/>
          <a:p>
            <a:r>
              <a:rPr lang="en-US" sz="1200" dirty="0" smtClean="0">
                <a:solidFill>
                  <a:schemeClr val="bg1"/>
                </a:solidFill>
              </a:rPr>
              <a:t>3291</a:t>
            </a:r>
            <a:endParaRPr lang="en-IN" sz="1200" dirty="0">
              <a:solidFill>
                <a:schemeClr val="bg1"/>
              </a:solidFill>
            </a:endParaRPr>
          </a:p>
        </p:txBody>
      </p:sp>
      <p:sp>
        <p:nvSpPr>
          <p:cNvPr id="15" name="TextBox 14"/>
          <p:cNvSpPr txBox="1"/>
          <p:nvPr/>
        </p:nvSpPr>
        <p:spPr>
          <a:xfrm>
            <a:off x="5328561" y="1850288"/>
            <a:ext cx="571500" cy="276999"/>
          </a:xfrm>
          <a:prstGeom prst="rect">
            <a:avLst/>
          </a:prstGeom>
          <a:noFill/>
        </p:spPr>
        <p:txBody>
          <a:bodyPr wrap="square" rtlCol="0">
            <a:spAutoFit/>
          </a:bodyPr>
          <a:lstStyle/>
          <a:p>
            <a:r>
              <a:rPr lang="en-US" sz="1200" dirty="0" smtClean="0">
                <a:solidFill>
                  <a:schemeClr val="bg1"/>
                </a:solidFill>
              </a:rPr>
              <a:t>3291</a:t>
            </a:r>
            <a:endParaRPr lang="en-IN" sz="1200" dirty="0">
              <a:solidFill>
                <a:schemeClr val="bg1"/>
              </a:solidFill>
            </a:endParaRPr>
          </a:p>
        </p:txBody>
      </p:sp>
      <p:sp>
        <p:nvSpPr>
          <p:cNvPr id="16" name="TextBox 15"/>
          <p:cNvSpPr txBox="1"/>
          <p:nvPr/>
        </p:nvSpPr>
        <p:spPr>
          <a:xfrm>
            <a:off x="6893383" y="2508869"/>
            <a:ext cx="571500" cy="276999"/>
          </a:xfrm>
          <a:prstGeom prst="rect">
            <a:avLst/>
          </a:prstGeom>
          <a:noFill/>
        </p:spPr>
        <p:txBody>
          <a:bodyPr wrap="square" rtlCol="0">
            <a:spAutoFit/>
          </a:bodyPr>
          <a:lstStyle/>
          <a:p>
            <a:r>
              <a:rPr lang="en-US" sz="1200" dirty="0" smtClean="0">
                <a:solidFill>
                  <a:schemeClr val="bg1"/>
                </a:solidFill>
              </a:rPr>
              <a:t>2493</a:t>
            </a:r>
            <a:endParaRPr lang="en-IN" sz="1200" dirty="0">
              <a:solidFill>
                <a:schemeClr val="bg1"/>
              </a:solidFill>
            </a:endParaRPr>
          </a:p>
        </p:txBody>
      </p:sp>
    </p:spTree>
    <p:extLst>
      <p:ext uri="{BB962C8B-B14F-4D97-AF65-F5344CB8AC3E}">
        <p14:creationId xmlns:p14="http://schemas.microsoft.com/office/powerpoint/2010/main" val="42379362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540"/>
            <a:ext cx="10515600" cy="1120775"/>
          </a:xfrm>
        </p:spPr>
        <p:txBody>
          <a:bodyPr>
            <a:normAutofit/>
          </a:bodyPr>
          <a:lstStyle/>
          <a:p>
            <a:r>
              <a:rPr lang="en-US" dirty="0" smtClean="0"/>
              <a:t>Model Evaluation Matrix: A Comparison</a:t>
            </a:r>
            <a:endParaRPr lang="en-IN" dirty="0"/>
          </a:p>
        </p:txBody>
      </p:sp>
      <p:pic>
        <p:nvPicPr>
          <p:cNvPr id="5" name="Picture 4"/>
          <p:cNvPicPr>
            <a:picLocks noChangeAspect="1"/>
          </p:cNvPicPr>
          <p:nvPr/>
        </p:nvPicPr>
        <p:blipFill>
          <a:blip r:embed="rId2"/>
          <a:stretch>
            <a:fillRect/>
          </a:stretch>
        </p:blipFill>
        <p:spPr>
          <a:xfrm>
            <a:off x="823912" y="1557337"/>
            <a:ext cx="10544175" cy="4271963"/>
          </a:xfrm>
          <a:prstGeom prst="rect">
            <a:avLst/>
          </a:prstGeom>
        </p:spPr>
      </p:pic>
    </p:spTree>
    <p:extLst>
      <p:ext uri="{BB962C8B-B14F-4D97-AF65-F5344CB8AC3E}">
        <p14:creationId xmlns:p14="http://schemas.microsoft.com/office/powerpoint/2010/main" val="291813696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540"/>
            <a:ext cx="10515600" cy="1120775"/>
          </a:xfrm>
        </p:spPr>
        <p:txBody>
          <a:bodyPr>
            <a:normAutofit/>
          </a:bodyPr>
          <a:lstStyle/>
          <a:p>
            <a:r>
              <a:rPr lang="en-US" dirty="0" smtClean="0"/>
              <a:t>Comparison : Accuracy Score</a:t>
            </a:r>
            <a:endParaRPr lang="en-IN" dirty="0"/>
          </a:p>
        </p:txBody>
      </p:sp>
      <p:pic>
        <p:nvPicPr>
          <p:cNvPr id="4" name="Picture 3"/>
          <p:cNvPicPr>
            <a:picLocks noChangeAspect="1"/>
          </p:cNvPicPr>
          <p:nvPr/>
        </p:nvPicPr>
        <p:blipFill>
          <a:blip r:embed="rId2"/>
          <a:stretch>
            <a:fillRect/>
          </a:stretch>
        </p:blipFill>
        <p:spPr>
          <a:xfrm>
            <a:off x="1136876" y="1420585"/>
            <a:ext cx="9272587" cy="4994501"/>
          </a:xfrm>
          <a:prstGeom prst="rect">
            <a:avLst/>
          </a:prstGeom>
        </p:spPr>
      </p:pic>
    </p:spTree>
    <p:extLst>
      <p:ext uri="{BB962C8B-B14F-4D97-AF65-F5344CB8AC3E}">
        <p14:creationId xmlns:p14="http://schemas.microsoft.com/office/powerpoint/2010/main" val="29939498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289957" y="1428749"/>
            <a:ext cx="9495064" cy="4962525"/>
          </a:xfrm>
          <a:prstGeom prst="rect">
            <a:avLst/>
          </a:prstGeom>
        </p:spPr>
      </p:pic>
      <p:sp>
        <p:nvSpPr>
          <p:cNvPr id="6" name="Title 1"/>
          <p:cNvSpPr>
            <a:spLocks noGrp="1"/>
          </p:cNvSpPr>
          <p:nvPr>
            <p:ph type="title"/>
          </p:nvPr>
        </p:nvSpPr>
        <p:spPr>
          <a:xfrm>
            <a:off x="838200" y="87540"/>
            <a:ext cx="10515600" cy="1120775"/>
          </a:xfrm>
        </p:spPr>
        <p:txBody>
          <a:bodyPr>
            <a:normAutofit/>
          </a:bodyPr>
          <a:lstStyle/>
          <a:p>
            <a:r>
              <a:rPr lang="en-US" dirty="0" smtClean="0"/>
              <a:t>Comparison : Precision Score</a:t>
            </a:r>
            <a:endParaRPr lang="en-IN" dirty="0"/>
          </a:p>
        </p:txBody>
      </p:sp>
    </p:spTree>
    <p:extLst>
      <p:ext uri="{BB962C8B-B14F-4D97-AF65-F5344CB8AC3E}">
        <p14:creationId xmlns:p14="http://schemas.microsoft.com/office/powerpoint/2010/main" val="87905604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387929" y="1208315"/>
            <a:ext cx="9029700" cy="5208814"/>
          </a:xfrm>
          <a:prstGeom prst="rect">
            <a:avLst/>
          </a:prstGeom>
        </p:spPr>
      </p:pic>
      <p:sp>
        <p:nvSpPr>
          <p:cNvPr id="5" name="Title 1"/>
          <p:cNvSpPr>
            <a:spLocks noGrp="1"/>
          </p:cNvSpPr>
          <p:nvPr>
            <p:ph type="title"/>
          </p:nvPr>
        </p:nvSpPr>
        <p:spPr>
          <a:xfrm>
            <a:off x="838200" y="87540"/>
            <a:ext cx="10515600" cy="1120775"/>
          </a:xfrm>
        </p:spPr>
        <p:txBody>
          <a:bodyPr>
            <a:normAutofit/>
          </a:bodyPr>
          <a:lstStyle/>
          <a:p>
            <a:r>
              <a:rPr lang="en-US" dirty="0" smtClean="0"/>
              <a:t>Comparison : Recall Score</a:t>
            </a:r>
            <a:endParaRPr lang="en-IN" dirty="0"/>
          </a:p>
        </p:txBody>
      </p:sp>
    </p:spTree>
    <p:extLst>
      <p:ext uri="{BB962C8B-B14F-4D97-AF65-F5344CB8AC3E}">
        <p14:creationId xmlns:p14="http://schemas.microsoft.com/office/powerpoint/2010/main" val="260295645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89958" y="1404258"/>
            <a:ext cx="9013372" cy="4841422"/>
          </a:xfrm>
          <a:prstGeom prst="rect">
            <a:avLst/>
          </a:prstGeom>
        </p:spPr>
      </p:pic>
      <p:sp>
        <p:nvSpPr>
          <p:cNvPr id="6" name="Title 1"/>
          <p:cNvSpPr>
            <a:spLocks noGrp="1"/>
          </p:cNvSpPr>
          <p:nvPr>
            <p:ph type="title"/>
          </p:nvPr>
        </p:nvSpPr>
        <p:spPr>
          <a:xfrm>
            <a:off x="838200" y="87540"/>
            <a:ext cx="10515600" cy="1120775"/>
          </a:xfrm>
        </p:spPr>
        <p:txBody>
          <a:bodyPr>
            <a:normAutofit/>
          </a:bodyPr>
          <a:lstStyle/>
          <a:p>
            <a:r>
              <a:rPr lang="en-US" dirty="0" smtClean="0"/>
              <a:t>Comparison : F1-Score</a:t>
            </a:r>
            <a:endParaRPr lang="en-IN" dirty="0"/>
          </a:p>
        </p:txBody>
      </p:sp>
    </p:spTree>
    <p:extLst>
      <p:ext uri="{BB962C8B-B14F-4D97-AF65-F5344CB8AC3E}">
        <p14:creationId xmlns:p14="http://schemas.microsoft.com/office/powerpoint/2010/main" val="362011678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1223962" y="1208315"/>
            <a:ext cx="9744075" cy="5230584"/>
          </a:xfrm>
          <a:prstGeom prst="rect">
            <a:avLst/>
          </a:prstGeom>
        </p:spPr>
      </p:pic>
      <p:sp>
        <p:nvSpPr>
          <p:cNvPr id="5" name="Title 1"/>
          <p:cNvSpPr>
            <a:spLocks noGrp="1"/>
          </p:cNvSpPr>
          <p:nvPr>
            <p:ph type="title"/>
          </p:nvPr>
        </p:nvSpPr>
        <p:spPr>
          <a:xfrm>
            <a:off x="838200" y="87540"/>
            <a:ext cx="10515600" cy="1120775"/>
          </a:xfrm>
        </p:spPr>
        <p:txBody>
          <a:bodyPr>
            <a:normAutofit/>
          </a:bodyPr>
          <a:lstStyle/>
          <a:p>
            <a:r>
              <a:rPr lang="en-US" dirty="0" smtClean="0"/>
              <a:t>Comparison : ROC AUC Score</a:t>
            </a:r>
            <a:endParaRPr lang="en-IN" dirty="0"/>
          </a:p>
        </p:txBody>
      </p:sp>
    </p:spTree>
    <p:extLst>
      <p:ext uri="{BB962C8B-B14F-4D97-AF65-F5344CB8AC3E}">
        <p14:creationId xmlns:p14="http://schemas.microsoft.com/office/powerpoint/2010/main" val="153753121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540"/>
            <a:ext cx="10515600" cy="1120775"/>
          </a:xfrm>
        </p:spPr>
        <p:txBody>
          <a:bodyPr>
            <a:normAutofit/>
          </a:bodyPr>
          <a:lstStyle/>
          <a:p>
            <a:r>
              <a:rPr lang="en-US" dirty="0" err="1" smtClean="0"/>
              <a:t>Keras</a:t>
            </a:r>
            <a:r>
              <a:rPr lang="en-US" dirty="0" smtClean="0"/>
              <a:t> LSTM Deep Learning Model</a:t>
            </a:r>
            <a:endParaRPr lang="en-IN" dirty="0"/>
          </a:p>
        </p:txBody>
      </p:sp>
      <p:pic>
        <p:nvPicPr>
          <p:cNvPr id="4" name="Picture 3"/>
          <p:cNvPicPr>
            <a:picLocks noChangeAspect="1"/>
          </p:cNvPicPr>
          <p:nvPr/>
        </p:nvPicPr>
        <p:blipFill>
          <a:blip r:embed="rId2"/>
          <a:stretch>
            <a:fillRect/>
          </a:stretch>
        </p:blipFill>
        <p:spPr>
          <a:xfrm>
            <a:off x="1787979" y="1175660"/>
            <a:ext cx="7780563" cy="5257798"/>
          </a:xfrm>
          <a:prstGeom prst="rect">
            <a:avLst/>
          </a:prstGeom>
        </p:spPr>
      </p:pic>
    </p:spTree>
    <p:extLst>
      <p:ext uri="{BB962C8B-B14F-4D97-AF65-F5344CB8AC3E}">
        <p14:creationId xmlns:p14="http://schemas.microsoft.com/office/powerpoint/2010/main" val="79509680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540"/>
            <a:ext cx="10515600" cy="1120775"/>
          </a:xfrm>
        </p:spPr>
        <p:txBody>
          <a:bodyPr/>
          <a:lstStyle/>
          <a:p>
            <a:r>
              <a:rPr lang="en-US" dirty="0" err="1" smtClean="0"/>
              <a:t>Epocs</a:t>
            </a:r>
            <a:r>
              <a:rPr lang="en-US" dirty="0" smtClean="0"/>
              <a:t>, Loss and Accuracy</a:t>
            </a:r>
            <a:endParaRPr lang="en-IN" dirty="0"/>
          </a:p>
        </p:txBody>
      </p:sp>
      <p:pic>
        <p:nvPicPr>
          <p:cNvPr id="4" name="Picture 3"/>
          <p:cNvPicPr>
            <a:picLocks noChangeAspect="1"/>
          </p:cNvPicPr>
          <p:nvPr/>
        </p:nvPicPr>
        <p:blipFill>
          <a:blip r:embed="rId2"/>
          <a:stretch>
            <a:fillRect/>
          </a:stretch>
        </p:blipFill>
        <p:spPr>
          <a:xfrm>
            <a:off x="783771" y="1733549"/>
            <a:ext cx="4698544" cy="3842657"/>
          </a:xfrm>
          <a:prstGeom prst="rect">
            <a:avLst/>
          </a:prstGeom>
        </p:spPr>
      </p:pic>
      <p:pic>
        <p:nvPicPr>
          <p:cNvPr id="5" name="Picture 4"/>
          <p:cNvPicPr>
            <a:picLocks noChangeAspect="1"/>
          </p:cNvPicPr>
          <p:nvPr/>
        </p:nvPicPr>
        <p:blipFill>
          <a:blip r:embed="rId3"/>
          <a:stretch>
            <a:fillRect/>
          </a:stretch>
        </p:blipFill>
        <p:spPr>
          <a:xfrm>
            <a:off x="5925231" y="1703613"/>
            <a:ext cx="5104719" cy="3807279"/>
          </a:xfrm>
          <a:prstGeom prst="rect">
            <a:avLst/>
          </a:prstGeom>
        </p:spPr>
      </p:pic>
    </p:spTree>
    <p:extLst>
      <p:ext uri="{BB962C8B-B14F-4D97-AF65-F5344CB8AC3E}">
        <p14:creationId xmlns:p14="http://schemas.microsoft.com/office/powerpoint/2010/main" val="345192792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540"/>
            <a:ext cx="10515600" cy="1120775"/>
          </a:xfrm>
        </p:spPr>
        <p:txBody>
          <a:bodyPr>
            <a:normAutofit/>
          </a:bodyPr>
          <a:lstStyle/>
          <a:p>
            <a:r>
              <a:rPr lang="en-US" dirty="0" smtClean="0"/>
              <a:t>Model Deployment </a:t>
            </a:r>
            <a:r>
              <a:rPr lang="en-US" dirty="0" smtClean="0"/>
              <a:t> (using Flask)</a:t>
            </a:r>
            <a:endParaRPr lang="en-IN" dirty="0"/>
          </a:p>
        </p:txBody>
      </p:sp>
      <p:pic>
        <p:nvPicPr>
          <p:cNvPr id="3" name="Picture 2"/>
          <p:cNvPicPr>
            <a:picLocks noChangeAspect="1"/>
          </p:cNvPicPr>
          <p:nvPr/>
        </p:nvPicPr>
        <p:blipFill>
          <a:blip r:embed="rId2"/>
          <a:stretch>
            <a:fillRect/>
          </a:stretch>
        </p:blipFill>
        <p:spPr>
          <a:xfrm>
            <a:off x="5470071" y="1208315"/>
            <a:ext cx="6093959" cy="2286000"/>
          </a:xfrm>
          <a:prstGeom prst="rect">
            <a:avLst/>
          </a:prstGeom>
        </p:spPr>
      </p:pic>
      <p:pic>
        <p:nvPicPr>
          <p:cNvPr id="4" name="Picture 3"/>
          <p:cNvPicPr>
            <a:picLocks noChangeAspect="1"/>
          </p:cNvPicPr>
          <p:nvPr/>
        </p:nvPicPr>
        <p:blipFill>
          <a:blip r:embed="rId3"/>
          <a:stretch>
            <a:fillRect/>
          </a:stretch>
        </p:blipFill>
        <p:spPr>
          <a:xfrm>
            <a:off x="334735" y="1445987"/>
            <a:ext cx="4859433" cy="1843968"/>
          </a:xfrm>
          <a:prstGeom prst="rect">
            <a:avLst/>
          </a:prstGeom>
        </p:spPr>
      </p:pic>
      <p:pic>
        <p:nvPicPr>
          <p:cNvPr id="9" name="Picture 8"/>
          <p:cNvPicPr>
            <a:picLocks noChangeAspect="1"/>
          </p:cNvPicPr>
          <p:nvPr/>
        </p:nvPicPr>
        <p:blipFill>
          <a:blip r:embed="rId4"/>
          <a:stretch>
            <a:fillRect/>
          </a:stretch>
        </p:blipFill>
        <p:spPr>
          <a:xfrm>
            <a:off x="73478" y="3601038"/>
            <a:ext cx="8763000" cy="2709501"/>
          </a:xfrm>
          <a:prstGeom prst="rect">
            <a:avLst/>
          </a:prstGeom>
        </p:spPr>
      </p:pic>
    </p:spTree>
    <p:extLst>
      <p:ext uri="{BB962C8B-B14F-4D97-AF65-F5344CB8AC3E}">
        <p14:creationId xmlns:p14="http://schemas.microsoft.com/office/powerpoint/2010/main" val="2685346727"/>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87540"/>
            <a:ext cx="10515600" cy="1120775"/>
          </a:xfrm>
        </p:spPr>
        <p:txBody>
          <a:bodyPr>
            <a:normAutofit/>
          </a:bodyPr>
          <a:lstStyle/>
          <a:p>
            <a:r>
              <a:rPr lang="en-US" dirty="0" smtClean="0"/>
              <a:t>Model Deployment </a:t>
            </a:r>
            <a:r>
              <a:rPr lang="en-US" dirty="0" smtClean="0"/>
              <a:t>Output </a:t>
            </a:r>
            <a:endParaRPr lang="en-IN" dirty="0"/>
          </a:p>
        </p:txBody>
      </p:sp>
      <p:pic>
        <p:nvPicPr>
          <p:cNvPr id="5" name="Picture 4"/>
          <p:cNvPicPr>
            <a:picLocks noChangeAspect="1"/>
          </p:cNvPicPr>
          <p:nvPr/>
        </p:nvPicPr>
        <p:blipFill>
          <a:blip r:embed="rId2"/>
          <a:stretch>
            <a:fillRect/>
          </a:stretch>
        </p:blipFill>
        <p:spPr>
          <a:xfrm>
            <a:off x="838200" y="1208315"/>
            <a:ext cx="4550229" cy="2065564"/>
          </a:xfrm>
          <a:prstGeom prst="rect">
            <a:avLst/>
          </a:prstGeom>
        </p:spPr>
      </p:pic>
      <p:pic>
        <p:nvPicPr>
          <p:cNvPr id="6" name="Picture 5"/>
          <p:cNvPicPr>
            <a:picLocks noChangeAspect="1"/>
          </p:cNvPicPr>
          <p:nvPr/>
        </p:nvPicPr>
        <p:blipFill>
          <a:blip r:embed="rId3"/>
          <a:stretch>
            <a:fillRect/>
          </a:stretch>
        </p:blipFill>
        <p:spPr>
          <a:xfrm>
            <a:off x="955221" y="3902528"/>
            <a:ext cx="4743450" cy="2009093"/>
          </a:xfrm>
          <a:prstGeom prst="rect">
            <a:avLst/>
          </a:prstGeom>
        </p:spPr>
      </p:pic>
      <p:pic>
        <p:nvPicPr>
          <p:cNvPr id="7" name="Picture 6"/>
          <p:cNvPicPr>
            <a:picLocks noChangeAspect="1"/>
          </p:cNvPicPr>
          <p:nvPr/>
        </p:nvPicPr>
        <p:blipFill>
          <a:blip r:embed="rId4"/>
          <a:stretch>
            <a:fillRect/>
          </a:stretch>
        </p:blipFill>
        <p:spPr>
          <a:xfrm>
            <a:off x="5935436" y="1208315"/>
            <a:ext cx="4728482" cy="2571749"/>
          </a:xfrm>
          <a:prstGeom prst="rect">
            <a:avLst/>
          </a:prstGeom>
        </p:spPr>
      </p:pic>
      <p:pic>
        <p:nvPicPr>
          <p:cNvPr id="8" name="Picture 7"/>
          <p:cNvPicPr>
            <a:picLocks noChangeAspect="1"/>
          </p:cNvPicPr>
          <p:nvPr/>
        </p:nvPicPr>
        <p:blipFill>
          <a:blip r:embed="rId5"/>
          <a:stretch>
            <a:fillRect/>
          </a:stretch>
        </p:blipFill>
        <p:spPr>
          <a:xfrm>
            <a:off x="6025242" y="3902529"/>
            <a:ext cx="4604657" cy="2055358"/>
          </a:xfrm>
          <a:prstGeom prst="rect">
            <a:avLst/>
          </a:prstGeom>
        </p:spPr>
      </p:pic>
    </p:spTree>
    <p:extLst>
      <p:ext uri="{BB962C8B-B14F-4D97-AF65-F5344CB8AC3E}">
        <p14:creationId xmlns:p14="http://schemas.microsoft.com/office/powerpoint/2010/main" val="39257258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05053" y="-18212"/>
            <a:ext cx="10606541" cy="867298"/>
          </a:xfrm>
        </p:spPr>
        <p:txBody>
          <a:bodyPr>
            <a:normAutofit/>
          </a:bodyPr>
          <a:lstStyle/>
          <a:p>
            <a:r>
              <a:rPr lang="en-US" dirty="0" err="1" smtClean="0"/>
              <a:t>Conclusion:Proposed</a:t>
            </a:r>
            <a:r>
              <a:rPr lang="en-US" dirty="0" smtClean="0"/>
              <a:t> solution with Business Benefits  </a:t>
            </a:r>
            <a:endParaRPr lang="en-IN" dirty="0"/>
          </a:p>
        </p:txBody>
      </p:sp>
      <p:cxnSp>
        <p:nvCxnSpPr>
          <p:cNvPr id="34" name="Straight Arrow Connector 33"/>
          <p:cNvCxnSpPr/>
          <p:nvPr/>
        </p:nvCxnSpPr>
        <p:spPr>
          <a:xfrm>
            <a:off x="424543" y="-506186"/>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469554" y="1387928"/>
            <a:ext cx="3938270" cy="4261758"/>
          </a:xfrm>
          <a:prstGeom prst="rect">
            <a:avLst/>
          </a:prstGeom>
          <a:solidFill>
            <a:srgbClr val="002060"/>
          </a:solidFill>
          <a:ln>
            <a:solidFill>
              <a:schemeClr val="tx1"/>
            </a:solidFill>
          </a:ln>
        </p:spPr>
        <p:txBody>
          <a:bodyPr wrap="square" rtlCol="0">
            <a:noAutofit/>
          </a:bodyPr>
          <a:lstStyle/>
          <a:p>
            <a:r>
              <a:rPr lang="en-US" sz="1400" b="1" u="sng" dirty="0">
                <a:solidFill>
                  <a:schemeClr val="bg1"/>
                </a:solidFill>
              </a:rPr>
              <a:t>Volumes being </a:t>
            </a:r>
            <a:r>
              <a:rPr lang="en-US" sz="1400" b="1" u="sng" dirty="0" smtClean="0">
                <a:solidFill>
                  <a:schemeClr val="bg1"/>
                </a:solidFill>
              </a:rPr>
              <a:t>Handled :</a:t>
            </a:r>
          </a:p>
          <a:p>
            <a:pPr marL="285750" indent="-285750">
              <a:buFont typeface="Arial" panose="020B0604020202020204" pitchFamily="34" charset="0"/>
              <a:buChar char="•"/>
            </a:pPr>
            <a:r>
              <a:rPr lang="en-US" sz="1400" dirty="0" smtClean="0">
                <a:solidFill>
                  <a:schemeClr val="bg1"/>
                </a:solidFill>
              </a:rPr>
              <a:t>~ </a:t>
            </a:r>
            <a:r>
              <a:rPr lang="en-US" sz="1400" dirty="0">
                <a:solidFill>
                  <a:schemeClr val="bg1"/>
                </a:solidFill>
              </a:rPr>
              <a:t>54% of L1/L2 tickets are handled and resolved by Service Desk</a:t>
            </a:r>
          </a:p>
          <a:p>
            <a:pPr marL="285750" indent="-285750">
              <a:buFont typeface="Arial" panose="020B0604020202020204" pitchFamily="34" charset="0"/>
              <a:buChar char="•"/>
            </a:pPr>
            <a:r>
              <a:rPr lang="en-US" sz="1400" dirty="0">
                <a:solidFill>
                  <a:schemeClr val="bg1"/>
                </a:solidFill>
              </a:rPr>
              <a:t>~56% of L3 tickets are handled and resolved by Functional/ IT Experts/ Vendors (as per requirements</a:t>
            </a:r>
            <a:r>
              <a:rPr lang="en-US" sz="1400" dirty="0" smtClean="0">
                <a:solidFill>
                  <a:schemeClr val="bg1"/>
                </a:solidFill>
              </a:rPr>
              <a:t>)</a:t>
            </a:r>
          </a:p>
          <a:p>
            <a:pPr marL="285750" indent="-285750">
              <a:buFont typeface="Arial" panose="020B0604020202020204" pitchFamily="34" charset="0"/>
              <a:buChar char="•"/>
            </a:pPr>
            <a:endParaRPr lang="en-US" sz="1400" dirty="0">
              <a:solidFill>
                <a:schemeClr val="bg1"/>
              </a:solidFill>
            </a:endParaRPr>
          </a:p>
          <a:p>
            <a:r>
              <a:rPr lang="en-US" sz="1400" b="1" u="sng" dirty="0">
                <a:solidFill>
                  <a:schemeClr val="bg1"/>
                </a:solidFill>
              </a:rPr>
              <a:t>Time Spent</a:t>
            </a:r>
            <a:r>
              <a:rPr lang="en-US" sz="1400" b="1" u="sng" dirty="0" smtClean="0">
                <a:solidFill>
                  <a:schemeClr val="bg1"/>
                </a:solidFill>
              </a:rPr>
              <a:t>:</a:t>
            </a:r>
          </a:p>
          <a:p>
            <a:pPr marL="285750" indent="-285750">
              <a:buFont typeface="Arial" panose="020B0604020202020204" pitchFamily="34" charset="0"/>
              <a:buChar char="•"/>
            </a:pPr>
            <a:r>
              <a:rPr lang="en-US" sz="1400" dirty="0" smtClean="0">
                <a:solidFill>
                  <a:schemeClr val="bg1"/>
                </a:solidFill>
              </a:rPr>
              <a:t>15 </a:t>
            </a:r>
            <a:r>
              <a:rPr lang="en-US" sz="1400" dirty="0">
                <a:solidFill>
                  <a:schemeClr val="bg1"/>
                </a:solidFill>
              </a:rPr>
              <a:t>min is being spent for SOP review for each incident</a:t>
            </a:r>
          </a:p>
          <a:p>
            <a:pPr marL="285750" indent="-285750">
              <a:buFont typeface="Arial" panose="020B0604020202020204" pitchFamily="34" charset="0"/>
              <a:buChar char="•"/>
            </a:pPr>
            <a:r>
              <a:rPr lang="en-US" sz="1400" dirty="0">
                <a:solidFill>
                  <a:schemeClr val="bg1"/>
                </a:solidFill>
              </a:rPr>
              <a:t>Minimum ~25-30% of incidents needs to be reviewed for SOPs before ticket assignment</a:t>
            </a:r>
          </a:p>
          <a:p>
            <a:pPr marL="285750" indent="-285750">
              <a:buFont typeface="Arial" panose="020B0604020202020204" pitchFamily="34" charset="0"/>
              <a:buChar char="•"/>
            </a:pPr>
            <a:r>
              <a:rPr lang="en-US" sz="1400" dirty="0">
                <a:solidFill>
                  <a:schemeClr val="bg1"/>
                </a:solidFill>
              </a:rPr>
              <a:t> Minimum of ~1 FTE effort needed “only “for incident assignment to L3 teams</a:t>
            </a:r>
            <a:r>
              <a:rPr lang="en-US" sz="1400" dirty="0" smtClean="0">
                <a:solidFill>
                  <a:schemeClr val="bg1"/>
                </a:solidFill>
              </a:rPr>
              <a:t>.</a:t>
            </a:r>
          </a:p>
          <a:p>
            <a:r>
              <a:rPr lang="en-US" sz="1400" dirty="0" smtClean="0">
                <a:solidFill>
                  <a:schemeClr val="bg1"/>
                </a:solidFill>
              </a:rPr>
              <a:t> </a:t>
            </a:r>
            <a:endParaRPr lang="en-US" sz="1400" dirty="0">
              <a:solidFill>
                <a:schemeClr val="bg1"/>
              </a:solidFill>
            </a:endParaRPr>
          </a:p>
          <a:p>
            <a:r>
              <a:rPr lang="en-US" sz="1400" b="1" u="sng" dirty="0">
                <a:solidFill>
                  <a:schemeClr val="bg1"/>
                </a:solidFill>
              </a:rPr>
              <a:t>Others</a:t>
            </a:r>
            <a:r>
              <a:rPr lang="en-US" sz="1400" b="1" u="sng" dirty="0" smtClean="0">
                <a:solidFill>
                  <a:schemeClr val="bg1"/>
                </a:solidFill>
              </a:rPr>
              <a:t>:</a:t>
            </a:r>
          </a:p>
          <a:p>
            <a:pPr marL="285750" indent="-285750">
              <a:buFont typeface="Arial" panose="020B0604020202020204" pitchFamily="34" charset="0"/>
              <a:buChar char="•"/>
            </a:pPr>
            <a:r>
              <a:rPr lang="en-US" sz="1400" dirty="0" smtClean="0">
                <a:solidFill>
                  <a:schemeClr val="bg1"/>
                </a:solidFill>
              </a:rPr>
              <a:t> </a:t>
            </a:r>
            <a:r>
              <a:rPr lang="en-US" sz="2000" b="1" dirty="0">
                <a:solidFill>
                  <a:schemeClr val="bg1"/>
                </a:solidFill>
              </a:rPr>
              <a:t>Around ~25% </a:t>
            </a:r>
            <a:r>
              <a:rPr lang="en-US" sz="1400" dirty="0">
                <a:solidFill>
                  <a:schemeClr val="bg1"/>
                </a:solidFill>
              </a:rPr>
              <a:t>of Incidents are wrongly assigned to functional teams</a:t>
            </a:r>
          </a:p>
          <a:p>
            <a:endParaRPr lang="en-US" b="1" u="sng" dirty="0" smtClean="0">
              <a:solidFill>
                <a:schemeClr val="bg1"/>
              </a:solidFill>
            </a:endParaRPr>
          </a:p>
        </p:txBody>
      </p:sp>
      <p:sp>
        <p:nvSpPr>
          <p:cNvPr id="9" name="TextBox 8"/>
          <p:cNvSpPr txBox="1"/>
          <p:nvPr/>
        </p:nvSpPr>
        <p:spPr>
          <a:xfrm>
            <a:off x="7887257" y="1407324"/>
            <a:ext cx="3938270" cy="4261758"/>
          </a:xfrm>
          <a:prstGeom prst="rect">
            <a:avLst/>
          </a:prstGeom>
          <a:solidFill>
            <a:srgbClr val="002060"/>
          </a:solidFill>
          <a:ln>
            <a:solidFill>
              <a:schemeClr val="tx1"/>
            </a:solidFill>
          </a:ln>
        </p:spPr>
        <p:txBody>
          <a:bodyPr wrap="square" rtlCol="0">
            <a:noAutofit/>
          </a:bodyPr>
          <a:lstStyle/>
          <a:p>
            <a:r>
              <a:rPr lang="en-US" sz="1400" b="1" u="sng" dirty="0">
                <a:solidFill>
                  <a:schemeClr val="bg1"/>
                </a:solidFill>
              </a:rPr>
              <a:t>Volumes being </a:t>
            </a:r>
            <a:r>
              <a:rPr lang="en-US" sz="1400" b="1" u="sng" dirty="0" smtClean="0">
                <a:solidFill>
                  <a:schemeClr val="bg1"/>
                </a:solidFill>
              </a:rPr>
              <a:t>Handled :</a:t>
            </a:r>
          </a:p>
          <a:p>
            <a:pPr marL="285750" indent="-285750">
              <a:buFont typeface="Arial" panose="020B0604020202020204" pitchFamily="34" charset="0"/>
              <a:buChar char="•"/>
            </a:pPr>
            <a:r>
              <a:rPr lang="en-US" sz="1400" dirty="0" smtClean="0">
                <a:solidFill>
                  <a:schemeClr val="bg1"/>
                </a:solidFill>
              </a:rPr>
              <a:t>~ </a:t>
            </a:r>
            <a:r>
              <a:rPr lang="en-US" sz="1400" dirty="0">
                <a:solidFill>
                  <a:schemeClr val="bg1"/>
                </a:solidFill>
              </a:rPr>
              <a:t>54% of L1/L2 tickets are handled and resolved by Service Desk</a:t>
            </a:r>
          </a:p>
          <a:p>
            <a:pPr marL="285750" indent="-285750">
              <a:buFont typeface="Arial" panose="020B0604020202020204" pitchFamily="34" charset="0"/>
              <a:buChar char="•"/>
            </a:pPr>
            <a:r>
              <a:rPr lang="en-US" sz="1400" dirty="0">
                <a:solidFill>
                  <a:schemeClr val="bg1"/>
                </a:solidFill>
              </a:rPr>
              <a:t>~56% of L3 tickets are handled and resolved by Functional/ IT Experts/ Vendors (as per requirements</a:t>
            </a:r>
            <a:r>
              <a:rPr lang="en-US" sz="1400" dirty="0" smtClean="0">
                <a:solidFill>
                  <a:schemeClr val="bg1"/>
                </a:solidFill>
              </a:rPr>
              <a:t>)</a:t>
            </a:r>
          </a:p>
          <a:p>
            <a:pPr marL="285750" indent="-285750">
              <a:buFont typeface="Arial" panose="020B0604020202020204" pitchFamily="34" charset="0"/>
              <a:buChar char="•"/>
            </a:pPr>
            <a:endParaRPr lang="en-US" sz="1400" dirty="0">
              <a:solidFill>
                <a:schemeClr val="bg1"/>
              </a:solidFill>
            </a:endParaRPr>
          </a:p>
          <a:p>
            <a:r>
              <a:rPr lang="en-US" sz="1400" b="1" u="sng" dirty="0">
                <a:solidFill>
                  <a:schemeClr val="bg1"/>
                </a:solidFill>
              </a:rPr>
              <a:t>Time Spent</a:t>
            </a:r>
            <a:r>
              <a:rPr lang="en-US" sz="1400" b="1" u="sng" dirty="0" smtClean="0">
                <a:solidFill>
                  <a:schemeClr val="bg1"/>
                </a:solidFill>
              </a:rPr>
              <a:t>:</a:t>
            </a:r>
          </a:p>
          <a:p>
            <a:pPr marL="285750" indent="-285750">
              <a:buFont typeface="Arial" panose="020B0604020202020204" pitchFamily="34" charset="0"/>
              <a:buChar char="•"/>
            </a:pPr>
            <a:r>
              <a:rPr lang="en-US" sz="1400" dirty="0" smtClean="0">
                <a:solidFill>
                  <a:schemeClr val="bg1"/>
                </a:solidFill>
              </a:rPr>
              <a:t>15 </a:t>
            </a:r>
            <a:r>
              <a:rPr lang="en-US" sz="1400" dirty="0">
                <a:solidFill>
                  <a:schemeClr val="bg1"/>
                </a:solidFill>
              </a:rPr>
              <a:t>min is being spent for SOP review for each incident</a:t>
            </a:r>
          </a:p>
          <a:p>
            <a:pPr marL="285750" indent="-285750">
              <a:buFont typeface="Arial" panose="020B0604020202020204" pitchFamily="34" charset="0"/>
              <a:buChar char="•"/>
            </a:pPr>
            <a:r>
              <a:rPr lang="en-US" sz="1400" dirty="0">
                <a:solidFill>
                  <a:schemeClr val="bg1"/>
                </a:solidFill>
              </a:rPr>
              <a:t>Minimum ~25-30% of incidents needs to be reviewed for SOPs before ticket assignment</a:t>
            </a:r>
          </a:p>
          <a:p>
            <a:pPr marL="285750" indent="-285750">
              <a:buFont typeface="Arial" panose="020B0604020202020204" pitchFamily="34" charset="0"/>
              <a:buChar char="•"/>
            </a:pPr>
            <a:r>
              <a:rPr lang="en-US" sz="1400" dirty="0">
                <a:solidFill>
                  <a:schemeClr val="bg1"/>
                </a:solidFill>
              </a:rPr>
              <a:t> Minimum of ~1 FTE effort needed “only “for incident assignment to L3 teams</a:t>
            </a:r>
            <a:r>
              <a:rPr lang="en-US" sz="1400" dirty="0" smtClean="0">
                <a:solidFill>
                  <a:schemeClr val="bg1"/>
                </a:solidFill>
              </a:rPr>
              <a:t>.</a:t>
            </a:r>
          </a:p>
          <a:p>
            <a:r>
              <a:rPr lang="en-US" sz="1400" dirty="0" smtClean="0">
                <a:solidFill>
                  <a:schemeClr val="bg1"/>
                </a:solidFill>
              </a:rPr>
              <a:t> </a:t>
            </a:r>
            <a:endParaRPr lang="en-US" sz="1400" dirty="0">
              <a:solidFill>
                <a:schemeClr val="bg1"/>
              </a:solidFill>
            </a:endParaRPr>
          </a:p>
          <a:p>
            <a:r>
              <a:rPr lang="en-US" sz="1400" b="1" u="sng" dirty="0">
                <a:solidFill>
                  <a:schemeClr val="bg1"/>
                </a:solidFill>
              </a:rPr>
              <a:t>Others</a:t>
            </a:r>
            <a:r>
              <a:rPr lang="en-US" sz="1400" b="1" u="sng" dirty="0" smtClean="0">
                <a:solidFill>
                  <a:schemeClr val="bg1"/>
                </a:solidFill>
              </a:rPr>
              <a:t>:</a:t>
            </a:r>
          </a:p>
          <a:p>
            <a:pPr marL="285750" indent="-285750">
              <a:buFont typeface="Arial" panose="020B0604020202020204" pitchFamily="34" charset="0"/>
              <a:buChar char="•"/>
            </a:pPr>
            <a:r>
              <a:rPr lang="en-US" b="1" dirty="0" smtClean="0">
                <a:solidFill>
                  <a:schemeClr val="bg1"/>
                </a:solidFill>
              </a:rPr>
              <a:t> </a:t>
            </a:r>
            <a:r>
              <a:rPr lang="en-US" sz="2000" b="1" dirty="0">
                <a:solidFill>
                  <a:schemeClr val="bg1"/>
                </a:solidFill>
              </a:rPr>
              <a:t>Around </a:t>
            </a:r>
            <a:r>
              <a:rPr lang="en-US" sz="2000" b="1" dirty="0" smtClean="0">
                <a:solidFill>
                  <a:schemeClr val="bg1"/>
                </a:solidFill>
              </a:rPr>
              <a:t>~10 % </a:t>
            </a:r>
            <a:r>
              <a:rPr lang="en-US" sz="1400" dirty="0">
                <a:solidFill>
                  <a:schemeClr val="bg1"/>
                </a:solidFill>
              </a:rPr>
              <a:t>of Incidents are wrongly assigned to functional teams</a:t>
            </a:r>
          </a:p>
          <a:p>
            <a:endParaRPr lang="en-US" b="1" u="sng" dirty="0" smtClean="0">
              <a:solidFill>
                <a:schemeClr val="bg1"/>
              </a:solidFill>
            </a:endParaRPr>
          </a:p>
        </p:txBody>
      </p:sp>
      <p:pic>
        <p:nvPicPr>
          <p:cNvPr id="2" name="Picture 1"/>
          <p:cNvPicPr>
            <a:picLocks noChangeAspect="1"/>
          </p:cNvPicPr>
          <p:nvPr/>
        </p:nvPicPr>
        <p:blipFill>
          <a:blip r:embed="rId2"/>
          <a:stretch>
            <a:fillRect/>
          </a:stretch>
        </p:blipFill>
        <p:spPr>
          <a:xfrm>
            <a:off x="4563687" y="2771775"/>
            <a:ext cx="3142211" cy="1314450"/>
          </a:xfrm>
          <a:prstGeom prst="rect">
            <a:avLst/>
          </a:prstGeom>
        </p:spPr>
      </p:pic>
      <p:sp>
        <p:nvSpPr>
          <p:cNvPr id="3" name="TextBox 2"/>
          <p:cNvSpPr txBox="1"/>
          <p:nvPr/>
        </p:nvSpPr>
        <p:spPr>
          <a:xfrm>
            <a:off x="7946967" y="2876204"/>
            <a:ext cx="3807229" cy="1704109"/>
          </a:xfrm>
          <a:prstGeom prst="rect">
            <a:avLst/>
          </a:prstGeom>
          <a:noFill/>
          <a:ln w="19050">
            <a:solidFill>
              <a:srgbClr val="FF0000"/>
            </a:solidFill>
          </a:ln>
        </p:spPr>
        <p:txBody>
          <a:bodyPr wrap="square" rtlCol="0">
            <a:noAutofit/>
          </a:bodyPr>
          <a:lstStyle/>
          <a:p>
            <a:endParaRPr lang="en-IN" dirty="0"/>
          </a:p>
        </p:txBody>
      </p:sp>
      <p:sp>
        <p:nvSpPr>
          <p:cNvPr id="5" name="Multiply 4"/>
          <p:cNvSpPr/>
          <p:nvPr/>
        </p:nvSpPr>
        <p:spPr>
          <a:xfrm>
            <a:off x="9318567" y="2942705"/>
            <a:ext cx="623455" cy="274320"/>
          </a:xfrm>
          <a:prstGeom prst="mathMultiply">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46773601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505053" y="-18212"/>
            <a:ext cx="10606541" cy="767443"/>
          </a:xfrm>
        </p:spPr>
        <p:txBody>
          <a:bodyPr>
            <a:normAutofit/>
          </a:bodyPr>
          <a:lstStyle/>
          <a:p>
            <a:r>
              <a:rPr lang="en-US" dirty="0" smtClean="0"/>
              <a:t>Improvements : What Else ?  </a:t>
            </a:r>
            <a:endParaRPr lang="en-IN" dirty="0"/>
          </a:p>
        </p:txBody>
      </p:sp>
      <p:cxnSp>
        <p:nvCxnSpPr>
          <p:cNvPr id="34" name="Straight Arrow Connector 33"/>
          <p:cNvCxnSpPr/>
          <p:nvPr/>
        </p:nvCxnSpPr>
        <p:spPr>
          <a:xfrm>
            <a:off x="424543" y="-506186"/>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151164" y="824594"/>
            <a:ext cx="9086850" cy="5016758"/>
          </a:xfrm>
          <a:prstGeom prst="rect">
            <a:avLst/>
          </a:prstGeom>
          <a:solidFill>
            <a:srgbClr val="002060"/>
          </a:solidFill>
        </p:spPr>
        <p:txBody>
          <a:bodyPr wrap="square" rtlCol="0">
            <a:spAutoFit/>
          </a:bodyPr>
          <a:lstStyle/>
          <a:p>
            <a:endParaRPr lang="en-US" sz="1600" i="1" dirty="0">
              <a:solidFill>
                <a:schemeClr val="bg1"/>
              </a:solidFill>
            </a:endParaRPr>
          </a:p>
          <a:p>
            <a:pPr marL="285750" indent="-285750">
              <a:buFont typeface="Arial" panose="020B0604020202020204" pitchFamily="34" charset="0"/>
              <a:buChar char="•"/>
            </a:pPr>
            <a:r>
              <a:rPr lang="en-US" sz="1600" i="1" dirty="0" smtClean="0">
                <a:solidFill>
                  <a:schemeClr val="bg1"/>
                </a:solidFill>
              </a:rPr>
              <a:t>More data sets from each group can help better learning </a:t>
            </a:r>
          </a:p>
          <a:p>
            <a:pPr marL="285750" indent="-285750">
              <a:buFont typeface="Arial" panose="020B0604020202020204" pitchFamily="34" charset="0"/>
              <a:buChar char="•"/>
            </a:pPr>
            <a:r>
              <a:rPr lang="en-US" sz="1600" i="1" dirty="0" smtClean="0">
                <a:solidFill>
                  <a:schemeClr val="bg1"/>
                </a:solidFill>
              </a:rPr>
              <a:t>Balanced Data Sets</a:t>
            </a:r>
          </a:p>
          <a:p>
            <a:pPr marL="285750" indent="-285750">
              <a:buFont typeface="Arial" panose="020B0604020202020204" pitchFamily="34" charset="0"/>
              <a:buChar char="•"/>
            </a:pPr>
            <a:r>
              <a:rPr lang="en-US" sz="1600" i="1" dirty="0" smtClean="0">
                <a:solidFill>
                  <a:schemeClr val="bg1"/>
                </a:solidFill>
              </a:rPr>
              <a:t>We could have used foreign dictionaries for better understanding of words</a:t>
            </a:r>
          </a:p>
          <a:p>
            <a:pPr marL="285750" indent="-285750">
              <a:buFont typeface="Arial" panose="020B0604020202020204" pitchFamily="34" charset="0"/>
              <a:buChar char="•"/>
            </a:pPr>
            <a:r>
              <a:rPr lang="en-US" sz="1600" i="1" dirty="0" smtClean="0">
                <a:solidFill>
                  <a:schemeClr val="bg1"/>
                </a:solidFill>
              </a:rPr>
              <a:t>Use of </a:t>
            </a:r>
            <a:r>
              <a:rPr lang="en-US" sz="1600" i="1" dirty="0" err="1" smtClean="0">
                <a:solidFill>
                  <a:schemeClr val="bg1"/>
                </a:solidFill>
              </a:rPr>
              <a:t>FastText</a:t>
            </a:r>
            <a:r>
              <a:rPr lang="en-US" sz="1600" i="1" dirty="0" smtClean="0">
                <a:solidFill>
                  <a:schemeClr val="bg1"/>
                </a:solidFill>
              </a:rPr>
              <a:t> for word </a:t>
            </a:r>
            <a:r>
              <a:rPr lang="en-US" sz="1600" i="1" dirty="0" err="1" smtClean="0">
                <a:solidFill>
                  <a:schemeClr val="bg1"/>
                </a:solidFill>
              </a:rPr>
              <a:t>embeddings</a:t>
            </a:r>
            <a:endParaRPr lang="en-US" sz="1600" i="1" dirty="0" smtClean="0">
              <a:solidFill>
                <a:schemeClr val="bg1"/>
              </a:solidFill>
            </a:endParaRPr>
          </a:p>
          <a:p>
            <a:pPr marL="1200150" lvl="2" indent="-285750">
              <a:buFont typeface="Arial" panose="020B0604020202020204" pitchFamily="34" charset="0"/>
              <a:buChar char="•"/>
            </a:pPr>
            <a:r>
              <a:rPr lang="en-US" sz="1600" i="1" dirty="0" smtClean="0">
                <a:solidFill>
                  <a:schemeClr val="bg1"/>
                </a:solidFill>
              </a:rPr>
              <a:t>This </a:t>
            </a:r>
            <a:r>
              <a:rPr lang="en-US" sz="1600" i="1" dirty="0">
                <a:solidFill>
                  <a:schemeClr val="bg1"/>
                </a:solidFill>
              </a:rPr>
              <a:t>helps capture the meaning of shorter words and allows the </a:t>
            </a:r>
            <a:r>
              <a:rPr lang="en-US" sz="1600" i="1" dirty="0" err="1">
                <a:solidFill>
                  <a:schemeClr val="bg1"/>
                </a:solidFill>
              </a:rPr>
              <a:t>embeddings</a:t>
            </a:r>
            <a:r>
              <a:rPr lang="en-US" sz="1600" i="1" dirty="0">
                <a:solidFill>
                  <a:schemeClr val="bg1"/>
                </a:solidFill>
              </a:rPr>
              <a:t> to understand suffixes and prefixes</a:t>
            </a:r>
            <a:r>
              <a:rPr lang="en-US" sz="1600" i="1" dirty="0" smtClean="0">
                <a:solidFill>
                  <a:schemeClr val="bg1"/>
                </a:solidFill>
              </a:rPr>
              <a:t>.</a:t>
            </a:r>
          </a:p>
          <a:p>
            <a:pPr marL="1200150" lvl="2" indent="-285750">
              <a:buFont typeface="Arial" panose="020B0604020202020204" pitchFamily="34" charset="0"/>
              <a:buChar char="•"/>
            </a:pPr>
            <a:r>
              <a:rPr lang="en-US" sz="1600" i="1" dirty="0" err="1">
                <a:solidFill>
                  <a:schemeClr val="bg1"/>
                </a:solidFill>
              </a:rPr>
              <a:t>fastText</a:t>
            </a:r>
            <a:r>
              <a:rPr lang="en-US" sz="1600" i="1" dirty="0">
                <a:solidFill>
                  <a:schemeClr val="bg1"/>
                </a:solidFill>
              </a:rPr>
              <a:t> works well with rare words. So even if a word wasn’t seen during training, it can be broken down into n-grams to get its </a:t>
            </a:r>
            <a:r>
              <a:rPr lang="en-US" sz="1600" i="1" dirty="0" err="1">
                <a:solidFill>
                  <a:schemeClr val="bg1"/>
                </a:solidFill>
              </a:rPr>
              <a:t>embeddings</a:t>
            </a:r>
            <a:r>
              <a:rPr lang="en-US" sz="1600" i="1" dirty="0">
                <a:solidFill>
                  <a:schemeClr val="bg1"/>
                </a:solidFill>
              </a:rPr>
              <a:t>.</a:t>
            </a:r>
          </a:p>
          <a:p>
            <a:pPr lvl="1"/>
            <a:r>
              <a:rPr lang="en-US" sz="1600" i="1" dirty="0">
                <a:solidFill>
                  <a:schemeClr val="bg1"/>
                </a:solidFill>
              </a:rPr>
              <a:t>Word2vec and </a:t>
            </a:r>
            <a:r>
              <a:rPr lang="en-US" sz="1600" i="1" dirty="0" err="1">
                <a:solidFill>
                  <a:schemeClr val="bg1"/>
                </a:solidFill>
              </a:rPr>
              <a:t>GloVe</a:t>
            </a:r>
            <a:r>
              <a:rPr lang="en-US" sz="1600" i="1" dirty="0">
                <a:solidFill>
                  <a:schemeClr val="bg1"/>
                </a:solidFill>
              </a:rPr>
              <a:t> both fail to provide any vector representation for words that are not in the model dictionary. This is a huge advantage of this method.  </a:t>
            </a:r>
            <a:endParaRPr lang="en-US" sz="1600" i="1" dirty="0" smtClean="0">
              <a:solidFill>
                <a:schemeClr val="bg1"/>
              </a:solidFill>
            </a:endParaRPr>
          </a:p>
          <a:p>
            <a:pPr marL="285750" indent="-285750">
              <a:buFont typeface="Arial" panose="020B0604020202020204" pitchFamily="34" charset="0"/>
              <a:buChar char="•"/>
            </a:pPr>
            <a:endParaRPr lang="en-US" sz="1600" i="1" dirty="0">
              <a:solidFill>
                <a:schemeClr val="bg1"/>
              </a:solidFill>
            </a:endParaRPr>
          </a:p>
          <a:p>
            <a:pPr marL="285750" indent="-285750">
              <a:buFont typeface="Arial" panose="020B0604020202020204" pitchFamily="34" charset="0"/>
              <a:buChar char="•"/>
            </a:pPr>
            <a:r>
              <a:rPr lang="en-US" sz="1600" i="1" dirty="0" smtClean="0">
                <a:solidFill>
                  <a:schemeClr val="bg1"/>
                </a:solidFill>
              </a:rPr>
              <a:t>Use of advanced layers (Attention Layers)</a:t>
            </a:r>
          </a:p>
          <a:p>
            <a:pPr lvl="2"/>
            <a:r>
              <a:rPr lang="en-US" sz="1600" i="1" dirty="0" smtClean="0">
                <a:solidFill>
                  <a:schemeClr val="bg1"/>
                </a:solidFill>
              </a:rPr>
              <a:t>Final </a:t>
            </a:r>
            <a:r>
              <a:rPr lang="en-US" sz="1600" i="1" dirty="0">
                <a:solidFill>
                  <a:schemeClr val="bg1"/>
                </a:solidFill>
              </a:rPr>
              <a:t>state of the encoder </a:t>
            </a:r>
            <a:r>
              <a:rPr lang="en-US" sz="1600" i="1" dirty="0" smtClean="0">
                <a:solidFill>
                  <a:schemeClr val="bg1"/>
                </a:solidFill>
              </a:rPr>
              <a:t>RNN/ LSTM </a:t>
            </a:r>
            <a:r>
              <a:rPr lang="en-US" sz="1600" i="1" dirty="0">
                <a:solidFill>
                  <a:schemeClr val="bg1"/>
                </a:solidFill>
              </a:rPr>
              <a:t>ultimately decides the decoding process, or at least heavily influences it, while the previous states  do not have any influence over the decoding process. Next observation is that the final encoder </a:t>
            </a:r>
            <a:r>
              <a:rPr lang="en-US" sz="1600" i="1" dirty="0" smtClean="0">
                <a:solidFill>
                  <a:schemeClr val="bg1"/>
                </a:solidFill>
              </a:rPr>
              <a:t>state</a:t>
            </a:r>
          </a:p>
          <a:p>
            <a:pPr lvl="2"/>
            <a:endParaRPr lang="en-US" sz="1600" i="1" dirty="0" smtClean="0">
              <a:solidFill>
                <a:schemeClr val="bg1"/>
              </a:solidFill>
            </a:endParaRPr>
          </a:p>
          <a:p>
            <a:pPr marL="742950" lvl="1" indent="-285750">
              <a:buFont typeface="Arial" panose="020B0604020202020204" pitchFamily="34" charset="0"/>
              <a:buChar char="•"/>
            </a:pPr>
            <a:r>
              <a:rPr lang="en-US" sz="1600" i="1" dirty="0">
                <a:solidFill>
                  <a:schemeClr val="bg1"/>
                </a:solidFill>
              </a:rPr>
              <a:t>Attention Mechanism does – it allows the decoder to pay attention to different parts of the source sequence at different decoding steps.</a:t>
            </a:r>
            <a:br>
              <a:rPr lang="en-US" sz="1600" i="1" dirty="0">
                <a:solidFill>
                  <a:schemeClr val="bg1"/>
                </a:solidFill>
              </a:rPr>
            </a:br>
            <a:endParaRPr lang="en-US" sz="1600" i="1" dirty="0">
              <a:solidFill>
                <a:schemeClr val="bg1"/>
              </a:solidFill>
            </a:endParaRPr>
          </a:p>
        </p:txBody>
      </p:sp>
    </p:spTree>
    <p:extLst>
      <p:ext uri="{BB962C8B-B14F-4D97-AF65-F5344CB8AC3E}">
        <p14:creationId xmlns:p14="http://schemas.microsoft.com/office/powerpoint/2010/main" val="348646323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679</TotalTime>
  <Words>1871</Words>
  <Application>Microsoft Office PowerPoint</Application>
  <PresentationFormat>Widescreen</PresentationFormat>
  <Paragraphs>286</Paragraphs>
  <Slides>33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33</vt:i4>
      </vt:variant>
    </vt:vector>
  </HeadingPairs>
  <TitlesOfParts>
    <vt:vector size="39" baseType="lpstr">
      <vt:lpstr>Arial</vt:lpstr>
      <vt:lpstr>Calibri</vt:lpstr>
      <vt:lpstr>Calibri Light</vt:lpstr>
      <vt:lpstr>Helvetica Neue</vt:lpstr>
      <vt:lpstr>Wingdings</vt:lpstr>
      <vt:lpstr>Office Theme</vt:lpstr>
      <vt:lpstr>CAPSTONE PROJECT Automation of Ticket Assignment (NLP)</vt:lpstr>
      <vt:lpstr>Agenda  </vt:lpstr>
      <vt:lpstr>Current IT Support Process Setup </vt:lpstr>
      <vt:lpstr>Current IT Support Process  : Keys Business Values </vt:lpstr>
      <vt:lpstr>Current IT Support Process: Problem Areas  </vt:lpstr>
      <vt:lpstr>Objective : Proposed IT Support Process Setup </vt:lpstr>
      <vt:lpstr>EDA, Preprocessing and Topic Modelling</vt:lpstr>
      <vt:lpstr>High Level Process Flow</vt:lpstr>
      <vt:lpstr>Exploratory Data Analysis</vt:lpstr>
      <vt:lpstr>Data Set Preparation and Topic Modelling</vt:lpstr>
      <vt:lpstr>Data Set Preparation and Topic Modelling</vt:lpstr>
      <vt:lpstr>Data Set Preparation and Topic Modelling</vt:lpstr>
      <vt:lpstr>Topic Model : 5 Topics 1#6</vt:lpstr>
      <vt:lpstr>Topic Model : 10 Topics  2#6</vt:lpstr>
      <vt:lpstr>Topic Model : 4 Topics (Bag-of-words) 3#6</vt:lpstr>
      <vt:lpstr>Topic Model : 4 Topics (Bag-of-words) 4#6</vt:lpstr>
      <vt:lpstr>Topic Model : 4 Topics (TF-IDF) 5#6</vt:lpstr>
      <vt:lpstr>Topic Model : 4 Topics (TF-IDF) 6#6</vt:lpstr>
      <vt:lpstr>Word Cloud – LDA (Bag-of-words)</vt:lpstr>
      <vt:lpstr>Word Cloud – LDA (Bag-of-words)</vt:lpstr>
      <vt:lpstr>Word Cloud – LDA (Bag-of-words)</vt:lpstr>
      <vt:lpstr>Model Evaluation Matrix: A Comparison</vt:lpstr>
      <vt:lpstr>Comparison : Accuracy Score</vt:lpstr>
      <vt:lpstr>Comparison : Precision Score</vt:lpstr>
      <vt:lpstr>Comparison : Recall Score</vt:lpstr>
      <vt:lpstr>Comparison : F1-Score</vt:lpstr>
      <vt:lpstr>Comparison : ROC AUC Score</vt:lpstr>
      <vt:lpstr>Keras LSTM Deep Learning Model</vt:lpstr>
      <vt:lpstr>Epocs, Loss and Accuracy</vt:lpstr>
      <vt:lpstr>Model Deployment  (using Flask)</vt:lpstr>
      <vt:lpstr>Model Deployment Output </vt:lpstr>
      <vt:lpstr>Conclusion:Proposed solution with Business Benefits  </vt:lpstr>
      <vt:lpstr>Improvements : What Else ?  </vt:lpstr>
    </vt:vector>
  </TitlesOfParts>
  <Company>KSBTECH PVT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D</dc:title>
  <dc:creator>Brijesh</dc:creator>
  <cp:lastModifiedBy>Brijesh</cp:lastModifiedBy>
  <cp:revision>178</cp:revision>
  <dcterms:created xsi:type="dcterms:W3CDTF">2020-04-01T11:44:14Z</dcterms:created>
  <dcterms:modified xsi:type="dcterms:W3CDTF">2020-05-10T08:19:31Z</dcterms:modified>
</cp:coreProperties>
</file>